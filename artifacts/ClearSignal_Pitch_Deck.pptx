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71" r:id="rId23"/>
    <p:sldId id="272" r:id="rId24"/>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I'm Raja. ClearSignal is AI-assisted diagnostic support for Lyme disease, built for the LymeX Innovation Accelerator, sponsored through HHS OASH and the NIH Office of Research on Women's Health. Over the next ten minutes I'll walk through the problem, what we built, how it works, and what's next.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insight: this isn't a knowledge gap, it's a timing gap. The test fails early, and that failure becomes evidence against the patient. Women are hit hardest because a negative test plus vague symptoms gets read as anxiety, not infection.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audiences: the patient living the delay, the clinician who needs better evidence than ‘patient reports fatigue,’ and the sponsor program deciding whether this approach is worth funding further.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feature exists to produce that missing evidentiary sequence, or to close one specific failure mode in how patients get dismissed — I'll show the full feature-to-failure-mode mapping next.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not a chatbot wrapper. The journal agent genuinely reasons over tool results in a loop; the red-flag layer is deterministic and safety-critical, and runs with zero model involvement.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Client talks to a set of Netlify functions, every one wrapped with metrics and rate limiting. Groq does chat/rerank/rewrite/narrative plus voice; Upstash does dense retrieval; Back4App is the system of record with per-user ACLs. Full sequence diagrams are in design.md.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side is deterministic-ish RAG: retrieve, fuse, rerank, threshold. Right side is genuinely agentic: the model decides which of six tools to call over the patient's own journal data, in a real loop, and I've verified it computing real numbers, not fabricating them.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Safety is deterministic, not model-dependent, and I'm upfront that the copy itself still needs a clinical review pass before this touches a real patient — that's documented, not glossed over.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choice is justified in design.md section 8 — free-tier-first, and each vendor swap-in point is documented for when the app needs to scale past free tiers.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eval harness reports real numbers per run, tagged to a git SHA. Escalation recall and false-positive rate are both where they need to be. Reading level is the one measured miss we know about and are actively fixing — I'd rather show you that than hide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isn't just a working demo — it's containerized, observable, rate-limited, input-validated, and still costs nothing to run at current scale, with the one real constraint (Groq daily tokens) actively monitored instead of discovered the hard way.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I switch to the live app and walk through chat, the journal, the handoff generator, and the admin dashboard. If Wi-Fi fails, I fall back to the recorded walkthrough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Near-term work is eval-driven, not speculative — we fix what the harness actually measured as wrong. Pet Sentinel and the treatment-response window are fully specced already. The MedGemma fine-tune is the honest long-horizon bet, gated on beating our current numbers before any swap.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 rather name these gaps than have a judge find them. None of these are hidden — every one is flagged in the code and in plan.md's own honesty section.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 happy to take questions, and I'm glad to pull up the live app, the admin dashboard, or specific code (e.g. the journal tool-calling loop, or the red-flag layer) on request.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Rounded Rectangle 1"/>
          <p:cNvSpPr/>
          <p:nvPr/>
        </p:nvSpPr>
        <p:spPr>
          <a:xfrm>
            <a:off x="-914400" y="-914400"/>
            <a:ext cx="13990320" cy="8686800"/>
          </a:xfrm>
          <a:prstGeom prst="roundRect">
            <a:avLst/>
          </a:prstGeom>
          <a:solidFill>
            <a:srgbClr val="0B1F3A"/>
          </a:solidFill>
          <a:ln w="12700">
            <a:solidFill>
              <a:srgbClr val="0B1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965960"/>
            <a:ext cx="10058400" cy="457200"/>
          </a:xfrm>
          <a:prstGeom prst="rect">
            <a:avLst/>
          </a:prstGeom>
          <a:noFill/>
        </p:spPr>
        <p:txBody>
          <a:bodyPr wrap="square">
            <a:spAutoFit/>
          </a:bodyPr>
          <a:lstStyle/>
          <a:p>
            <a:pPr algn="l"/>
            <a:r>
              <a:rPr sz="1500" b="1" i="0">
                <a:solidFill>
                  <a:srgbClr val="2DB49E"/>
                </a:solidFill>
                <a:latin typeface="Calibri"/>
              </a:rPr>
              <a:t>LYMEX INNOVATION ACCELERATOR  ·  HHS OASH / NIH ORWH</a:t>
            </a:r>
          </a:p>
        </p:txBody>
      </p:sp>
      <p:sp>
        <p:nvSpPr>
          <p:cNvPr id="4" name="TextBox 3"/>
          <p:cNvSpPr txBox="1"/>
          <p:nvPr/>
        </p:nvSpPr>
        <p:spPr>
          <a:xfrm>
            <a:off x="777240" y="2377440"/>
            <a:ext cx="10515600" cy="1463040"/>
          </a:xfrm>
          <a:prstGeom prst="rect">
            <a:avLst/>
          </a:prstGeom>
          <a:noFill/>
        </p:spPr>
        <p:txBody>
          <a:bodyPr wrap="square">
            <a:spAutoFit/>
          </a:bodyPr>
          <a:lstStyle/>
          <a:p>
            <a:pPr algn="l"/>
            <a:r>
              <a:rPr sz="7200" b="1" i="0">
                <a:solidFill>
                  <a:srgbClr val="FFFFFF"/>
                </a:solidFill>
                <a:latin typeface="Calibri"/>
              </a:rPr>
              <a:t>ClearSignal</a:t>
            </a:r>
          </a:p>
        </p:txBody>
      </p:sp>
      <p:sp>
        <p:nvSpPr>
          <p:cNvPr id="5" name="TextBox 4"/>
          <p:cNvSpPr txBox="1"/>
          <p:nvPr/>
        </p:nvSpPr>
        <p:spPr>
          <a:xfrm>
            <a:off x="822960" y="3520440"/>
            <a:ext cx="9601200" cy="731520"/>
          </a:xfrm>
          <a:prstGeom prst="rect">
            <a:avLst/>
          </a:prstGeom>
          <a:noFill/>
        </p:spPr>
        <p:txBody>
          <a:bodyPr wrap="square">
            <a:spAutoFit/>
          </a:bodyPr>
          <a:lstStyle/>
          <a:p>
            <a:pPr algn="l"/>
            <a:r>
              <a:rPr sz="2400" b="0" i="0">
                <a:solidFill>
                  <a:srgbClr val="C9D6E3"/>
                </a:solidFill>
                <a:latin typeface="Calibri"/>
              </a:rPr>
              <a:t>AI-assisted diagnostic support for Lyme disease</a:t>
            </a:r>
          </a:p>
        </p:txBody>
      </p:sp>
      <p:sp>
        <p:nvSpPr>
          <p:cNvPr id="6" name="TextBox 5"/>
          <p:cNvSpPr txBox="1"/>
          <p:nvPr/>
        </p:nvSpPr>
        <p:spPr>
          <a:xfrm>
            <a:off x="822960" y="5394960"/>
            <a:ext cx="7315200" cy="365760"/>
          </a:xfrm>
          <a:prstGeom prst="rect">
            <a:avLst/>
          </a:prstGeom>
          <a:noFill/>
        </p:spPr>
        <p:txBody>
          <a:bodyPr wrap="square">
            <a:spAutoFit/>
          </a:bodyPr>
          <a:lstStyle/>
          <a:p>
            <a:pPr algn="l"/>
            <a:r>
              <a:rPr sz="1600" b="1" i="0">
                <a:solidFill>
                  <a:srgbClr val="FFFFFF"/>
                </a:solidFill>
                <a:latin typeface="Calibri"/>
              </a:rPr>
              <a:t>Rajamanendra Surisetty</a:t>
            </a:r>
          </a:p>
        </p:txBody>
      </p:sp>
      <p:sp>
        <p:nvSpPr>
          <p:cNvPr id="7" name="TextBox 6"/>
          <p:cNvSpPr txBox="1"/>
          <p:nvPr/>
        </p:nvSpPr>
        <p:spPr>
          <a:xfrm>
            <a:off x="822960" y="5715000"/>
            <a:ext cx="7315200" cy="365760"/>
          </a:xfrm>
          <a:prstGeom prst="rect">
            <a:avLst/>
          </a:prstGeom>
          <a:noFill/>
        </p:spPr>
        <p:txBody>
          <a:bodyPr wrap="square">
            <a:spAutoFit/>
          </a:bodyPr>
          <a:lstStyle/>
          <a:p>
            <a:pPr algn="l"/>
            <a:r>
              <a:rPr sz="1300" b="0" i="0">
                <a:solidFill>
                  <a:srgbClr val="C9D6E3"/>
                </a:solidFill>
                <a:latin typeface="Calibri"/>
              </a:rPr>
              <a:t>rsurisetty2025@fau.edu   ·   healwithaura.netlify.app/chat</a:t>
            </a:r>
          </a:p>
        </p:txBody>
      </p:sp>
      <p:sp>
        <p:nvSpPr>
          <p:cNvPr id="8" name="Rectangle 7"/>
          <p:cNvSpPr/>
          <p:nvPr/>
        </p:nvSpPr>
        <p:spPr>
          <a:xfrm>
            <a:off x="822960" y="1783080"/>
            <a:ext cx="1463040" cy="41148"/>
          </a:xfrm>
          <a:prstGeom prst="rect">
            <a:avLst/>
          </a:prstGeom>
          <a:solidFill>
            <a:srgbClr val="2DB4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640080" y="365760"/>
            <a:ext cx="9144000" cy="457200"/>
          </a:xfrm>
          <a:prstGeom prst="rect">
            <a:avLst/>
          </a:prstGeom>
          <a:noFill/>
        </p:spPr>
        <p:txBody>
          <a:bodyPr wrap="square">
            <a:spAutoFit/>
          </a:bodyPr>
          <a:lstStyle/>
          <a:p>
            <a:pPr algn="l"/>
            <a:r>
              <a:rPr sz="1400" b="1" i="0">
                <a:solidFill>
                  <a:srgbClr val="2DB49E"/>
                </a:solidFill>
                <a:latin typeface="Calibri"/>
              </a:rPr>
              <a:t>THE PROBLEM</a:t>
            </a:r>
          </a:p>
        </p:txBody>
      </p:sp>
      <p:sp>
        <p:nvSpPr>
          <p:cNvPr id="3" name="TextBox 2"/>
          <p:cNvSpPr txBox="1"/>
          <p:nvPr/>
        </p:nvSpPr>
        <p:spPr>
          <a:xfrm>
            <a:off x="640080" y="685800"/>
            <a:ext cx="10881360" cy="914400"/>
          </a:xfrm>
          <a:prstGeom prst="rect">
            <a:avLst/>
          </a:prstGeom>
          <a:noFill/>
        </p:spPr>
        <p:txBody>
          <a:bodyPr wrap="square">
            <a:spAutoFit/>
          </a:bodyPr>
          <a:lstStyle/>
          <a:p>
            <a:pPr algn="l"/>
            <a:r>
              <a:rPr sz="3200" b="1" i="0">
                <a:solidFill>
                  <a:srgbClr val="FFFFFF"/>
                </a:solidFill>
                <a:latin typeface="Calibri"/>
              </a:rPr>
              <a:t>A timing problem, not an information problem</a:t>
            </a:r>
          </a:p>
        </p:txBody>
      </p:sp>
      <p:cxnSp>
        <p:nvCxnSpPr>
          <p:cNvPr id="4" name="Connector 3"/>
          <p:cNvCxnSpPr/>
          <p:nvPr/>
        </p:nvCxnSpPr>
        <p:spPr>
          <a:xfrm>
            <a:off x="640080" y="1417320"/>
            <a:ext cx="10881360" cy="0"/>
          </a:xfrm>
          <a:prstGeom prst="line">
            <a:avLst/>
          </a:prstGeom>
          <a:ln w="19050">
            <a:solidFill>
              <a:srgbClr val="1B6E6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737360"/>
            <a:ext cx="6309360" cy="4389120"/>
          </a:xfrm>
          <a:prstGeom prst="rect">
            <a:avLst/>
          </a:prstGeom>
          <a:noFill/>
        </p:spPr>
        <p:txBody>
          <a:bodyPr wrap="square">
            <a:spAutoFit/>
          </a:bodyPr>
          <a:lstStyle/>
          <a:p>
            <a:pPr>
              <a:spcAft>
                <a:spcPts val="1600"/>
              </a:spcAft>
            </a:pPr>
            <a:r>
              <a:rPr sz="1650" b="1">
                <a:solidFill>
                  <a:srgbClr val="FFFFFF"/>
                </a:solidFill>
                <a:latin typeface="Calibri"/>
              </a:rPr>
              <a:t>•  Serology detects antibodies, not bacteria.  </a:t>
            </a:r>
            <a:r>
              <a:rPr sz="1650">
                <a:solidFill>
                  <a:srgbClr val="C9D6E3"/>
                </a:solidFill>
                <a:latin typeface="Calibri"/>
              </a:rPr>
              <a:t>Standard two-tier Lyme testing needs 3–6 weeks for an antibody response to develop.</a:t>
            </a:r>
          </a:p>
          <a:p>
            <a:pPr>
              <a:spcAft>
                <a:spcPts val="1600"/>
              </a:spcAft>
            </a:pPr>
            <a:r>
              <a:rPr sz="1650" b="1">
                <a:solidFill>
                  <a:srgbClr val="FFFFFF"/>
                </a:solidFill>
                <a:latin typeface="Calibri"/>
              </a:rPr>
              <a:t>•  Early sensitivity: ~22–36%.  </a:t>
            </a:r>
            <a:r>
              <a:rPr sz="1650">
                <a:solidFill>
                  <a:srgbClr val="C9D6E3"/>
                </a:solidFill>
                <a:latin typeface="Calibri"/>
              </a:rPr>
              <a:t>A patient with a real, active infection most likely tests negative at first presentation.</a:t>
            </a:r>
          </a:p>
          <a:p>
            <a:pPr>
              <a:spcAft>
                <a:spcPts val="1600"/>
              </a:spcAft>
            </a:pPr>
            <a:r>
              <a:rPr sz="1650" b="1">
                <a:solidFill>
                  <a:srgbClr val="FFFFFF"/>
                </a:solidFill>
                <a:latin typeface="Calibri"/>
              </a:rPr>
              <a:t>•  The negative result anchors the chart.  </a:t>
            </a:r>
            <a:r>
              <a:rPr sz="1650">
                <a:solidFill>
                  <a:srgbClr val="C9D6E3"/>
                </a:solidFill>
                <a:latin typeface="Calibri"/>
              </a:rPr>
              <a:t>Every later clinician sees “tested negative” and moves on — even though the test was early, not wrong.</a:t>
            </a:r>
          </a:p>
          <a:p>
            <a:pPr>
              <a:spcAft>
                <a:spcPts val="1600"/>
              </a:spcAft>
            </a:pPr>
            <a:r>
              <a:rPr sz="1650" b="1">
                <a:solidFill>
                  <a:srgbClr val="FFFFFF"/>
                </a:solidFill>
                <a:latin typeface="Calibri"/>
              </a:rPr>
              <a:t>•  The real evidence lives nowhere.  </a:t>
            </a:r>
            <a:r>
              <a:rPr sz="1650">
                <a:solidFill>
                  <a:srgbClr val="C9D6E3"/>
                </a:solidFill>
                <a:latin typeface="Calibri"/>
              </a:rPr>
              <a:t>Diagnosis without a reliable test falls back on the sequence of exposure, onset, progression and episodicity — and no chart captures that, and no patient can reconstruct it in a 12-minute visit.</a:t>
            </a:r>
          </a:p>
        </p:txBody>
      </p:sp>
      <p:sp>
        <p:nvSpPr>
          <p:cNvPr id="6" name="Rounded Rectangle 5"/>
          <p:cNvSpPr/>
          <p:nvPr/>
        </p:nvSpPr>
        <p:spPr>
          <a:xfrm>
            <a:off x="7406640" y="1737360"/>
            <a:ext cx="1874519" cy="155448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06640" y="1874519"/>
            <a:ext cx="1874519" cy="914400"/>
          </a:xfrm>
          <a:prstGeom prst="rect">
            <a:avLst/>
          </a:prstGeom>
          <a:noFill/>
        </p:spPr>
        <p:txBody>
          <a:bodyPr wrap="square">
            <a:spAutoFit/>
          </a:bodyPr>
          <a:lstStyle/>
          <a:p>
            <a:pPr algn="ctr"/>
            <a:r>
              <a:rPr sz="3000" b="1" i="0">
                <a:solidFill>
                  <a:srgbClr val="2DB49E"/>
                </a:solidFill>
                <a:latin typeface="Calibri"/>
              </a:rPr>
              <a:t>22–36%</a:t>
            </a:r>
          </a:p>
        </p:txBody>
      </p:sp>
      <p:sp>
        <p:nvSpPr>
          <p:cNvPr id="8" name="TextBox 7"/>
          <p:cNvSpPr txBox="1"/>
          <p:nvPr/>
        </p:nvSpPr>
        <p:spPr>
          <a:xfrm>
            <a:off x="7498079" y="2788920"/>
            <a:ext cx="1691639" cy="457200"/>
          </a:xfrm>
          <a:prstGeom prst="rect">
            <a:avLst/>
          </a:prstGeom>
          <a:noFill/>
        </p:spPr>
        <p:txBody>
          <a:bodyPr wrap="square">
            <a:spAutoFit/>
          </a:bodyPr>
          <a:lstStyle/>
          <a:p>
            <a:pPr algn="ctr"/>
            <a:r>
              <a:rPr sz="1200" b="0" i="0">
                <a:solidFill>
                  <a:srgbClr val="C9D6E3"/>
                </a:solidFill>
                <a:latin typeface="Calibri"/>
              </a:rPr>
              <a:t>early serology</a:t>
            </a:r>
          </a:p>
          <a:p>
            <a:pPr algn="ctr"/>
            <a:r>
              <a:rPr sz="1200" b="0" i="0">
                <a:solidFill>
                  <a:srgbClr val="C9D6E3"/>
                </a:solidFill>
                <a:latin typeface="Calibri"/>
              </a:rPr>
              <a:t>sensitivity</a:t>
            </a:r>
          </a:p>
        </p:txBody>
      </p:sp>
      <p:sp>
        <p:nvSpPr>
          <p:cNvPr id="9" name="Rounded Rectangle 8"/>
          <p:cNvSpPr/>
          <p:nvPr/>
        </p:nvSpPr>
        <p:spPr>
          <a:xfrm>
            <a:off x="9418320" y="1737360"/>
            <a:ext cx="1874519" cy="155448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0" y="1874519"/>
            <a:ext cx="1874519" cy="914400"/>
          </a:xfrm>
          <a:prstGeom prst="rect">
            <a:avLst/>
          </a:prstGeom>
          <a:noFill/>
        </p:spPr>
        <p:txBody>
          <a:bodyPr wrap="square">
            <a:spAutoFit/>
          </a:bodyPr>
          <a:lstStyle/>
          <a:p>
            <a:pPr algn="ctr"/>
            <a:r>
              <a:rPr sz="3000" b="1" i="0">
                <a:solidFill>
                  <a:srgbClr val="2DB49E"/>
                </a:solidFill>
                <a:latin typeface="Calibri"/>
              </a:rPr>
              <a:t>3–6 wks</a:t>
            </a:r>
          </a:p>
        </p:txBody>
      </p:sp>
      <p:sp>
        <p:nvSpPr>
          <p:cNvPr id="11" name="TextBox 10"/>
          <p:cNvSpPr txBox="1"/>
          <p:nvPr/>
        </p:nvSpPr>
        <p:spPr>
          <a:xfrm>
            <a:off x="9509760" y="2788920"/>
            <a:ext cx="1691639" cy="457200"/>
          </a:xfrm>
          <a:prstGeom prst="rect">
            <a:avLst/>
          </a:prstGeom>
          <a:noFill/>
        </p:spPr>
        <p:txBody>
          <a:bodyPr wrap="square">
            <a:spAutoFit/>
          </a:bodyPr>
          <a:lstStyle/>
          <a:p>
            <a:pPr algn="ctr"/>
            <a:r>
              <a:rPr sz="1200" b="0" i="0">
                <a:solidFill>
                  <a:srgbClr val="C9D6E3"/>
                </a:solidFill>
                <a:latin typeface="Calibri"/>
              </a:rPr>
              <a:t>for antibody</a:t>
            </a:r>
          </a:p>
          <a:p>
            <a:pPr algn="ctr"/>
            <a:r>
              <a:rPr sz="1200" b="0" i="0">
                <a:solidFill>
                  <a:srgbClr val="C9D6E3"/>
                </a:solidFill>
                <a:latin typeface="Calibri"/>
              </a:rPr>
              <a:t>response to develop</a:t>
            </a:r>
          </a:p>
        </p:txBody>
      </p:sp>
      <p:sp>
        <p:nvSpPr>
          <p:cNvPr id="12" name="Rounded Rectangle 11"/>
          <p:cNvSpPr/>
          <p:nvPr/>
        </p:nvSpPr>
        <p:spPr>
          <a:xfrm>
            <a:off x="7406640" y="3429000"/>
            <a:ext cx="3886200" cy="155448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3566160"/>
            <a:ext cx="3886200" cy="914400"/>
          </a:xfrm>
          <a:prstGeom prst="rect">
            <a:avLst/>
          </a:prstGeom>
          <a:noFill/>
        </p:spPr>
        <p:txBody>
          <a:bodyPr wrap="square">
            <a:spAutoFit/>
          </a:bodyPr>
          <a:lstStyle/>
          <a:p>
            <a:pPr algn="ctr"/>
            <a:r>
              <a:rPr sz="3000" b="1" i="0">
                <a:solidFill>
                  <a:srgbClr val="2DB49E"/>
                </a:solidFill>
                <a:latin typeface="Calibri"/>
              </a:rPr>
              <a:t>Disproportionately Women</a:t>
            </a:r>
          </a:p>
        </p:txBody>
      </p:sp>
      <p:sp>
        <p:nvSpPr>
          <p:cNvPr id="14" name="TextBox 13"/>
          <p:cNvSpPr txBox="1"/>
          <p:nvPr/>
        </p:nvSpPr>
        <p:spPr>
          <a:xfrm>
            <a:off x="7498079" y="4480560"/>
            <a:ext cx="3703320" cy="457200"/>
          </a:xfrm>
          <a:prstGeom prst="rect">
            <a:avLst/>
          </a:prstGeom>
          <a:noFill/>
        </p:spPr>
        <p:txBody>
          <a:bodyPr wrap="square">
            <a:spAutoFit/>
          </a:bodyPr>
          <a:lstStyle/>
          <a:p>
            <a:pPr algn="ctr"/>
            <a:r>
              <a:rPr sz="1200" b="0" i="0">
                <a:solidFill>
                  <a:srgbClr val="C9D6E3"/>
                </a:solidFill>
                <a:latin typeface="Calibri"/>
              </a:rPr>
              <a:t>symptoms more often attributed to stress or anxiety once a negative test lands</a:t>
            </a:r>
          </a:p>
        </p:txBody>
      </p:sp>
      <p:sp>
        <p:nvSpPr>
          <p:cNvPr id="15" name="TextBox 14"/>
          <p:cNvSpPr txBox="1"/>
          <p:nvPr/>
        </p:nvSpPr>
        <p:spPr>
          <a:xfrm>
            <a:off x="640080" y="6492240"/>
            <a:ext cx="5486400" cy="274320"/>
          </a:xfrm>
          <a:prstGeom prst="rect">
            <a:avLst/>
          </a:prstGeom>
          <a:noFill/>
        </p:spPr>
        <p:txBody>
          <a:bodyPr wrap="square">
            <a:spAutoFit/>
          </a:bodyPr>
          <a:lstStyle/>
          <a:p>
            <a:pPr algn="l"/>
            <a:r>
              <a:rPr sz="1000" b="0" i="0">
                <a:solidFill>
                  <a:srgbClr val="6E829C"/>
                </a:solidFill>
                <a:latin typeface="Calibri"/>
              </a:rPr>
              <a:t>ClearSignal — LymeX Innovation Accelerator (HHS OASH / NIH ORWH)</a:t>
            </a:r>
          </a:p>
        </p:txBody>
      </p:sp>
      <p:sp>
        <p:nvSpPr>
          <p:cNvPr id="16" name="TextBox 15"/>
          <p:cNvSpPr txBox="1"/>
          <p:nvPr/>
        </p:nvSpPr>
        <p:spPr>
          <a:xfrm>
            <a:off x="11247120" y="6492240"/>
            <a:ext cx="548640" cy="274320"/>
          </a:xfrm>
          <a:prstGeom prst="rect">
            <a:avLst/>
          </a:prstGeom>
          <a:noFill/>
        </p:spPr>
        <p:txBody>
          <a:bodyPr wrap="square">
            <a:spAutoFit/>
          </a:bodyPr>
          <a:lstStyle/>
          <a:p>
            <a:pPr algn="r"/>
            <a:r>
              <a:rPr sz="1000" b="0" i="0">
                <a:solidFill>
                  <a:srgbClr val="6E829C"/>
                </a:solidFill>
                <a:latin typeface="Calibri"/>
              </a:rPr>
              <a:t>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640080" y="365760"/>
            <a:ext cx="9144000" cy="457200"/>
          </a:xfrm>
          <a:prstGeom prst="rect">
            <a:avLst/>
          </a:prstGeom>
          <a:noFill/>
        </p:spPr>
        <p:txBody>
          <a:bodyPr wrap="square">
            <a:spAutoFit/>
          </a:bodyPr>
          <a:lstStyle/>
          <a:p>
            <a:pPr algn="l"/>
            <a:r>
              <a:rPr sz="1400" b="1" i="0">
                <a:solidFill>
                  <a:srgbClr val="2DB49E"/>
                </a:solidFill>
                <a:latin typeface="Calibri"/>
              </a:rPr>
              <a:t>WHO IT SERVES</a:t>
            </a:r>
          </a:p>
        </p:txBody>
      </p:sp>
      <p:sp>
        <p:nvSpPr>
          <p:cNvPr id="3" name="TextBox 2"/>
          <p:cNvSpPr txBox="1"/>
          <p:nvPr/>
        </p:nvSpPr>
        <p:spPr>
          <a:xfrm>
            <a:off x="640080" y="685800"/>
            <a:ext cx="10881360" cy="914400"/>
          </a:xfrm>
          <a:prstGeom prst="rect">
            <a:avLst/>
          </a:prstGeom>
          <a:noFill/>
        </p:spPr>
        <p:txBody>
          <a:bodyPr wrap="square">
            <a:spAutoFit/>
          </a:bodyPr>
          <a:lstStyle/>
          <a:p>
            <a:pPr algn="l"/>
            <a:r>
              <a:rPr sz="3200" b="1" i="0">
                <a:solidFill>
                  <a:srgbClr val="FFFFFF"/>
                </a:solidFill>
                <a:latin typeface="Calibri"/>
              </a:rPr>
              <a:t>Patients, clinicians, and the program that's evaluating us</a:t>
            </a:r>
          </a:p>
        </p:txBody>
      </p:sp>
      <p:cxnSp>
        <p:nvCxnSpPr>
          <p:cNvPr id="4" name="Connector 3"/>
          <p:cNvCxnSpPr/>
          <p:nvPr/>
        </p:nvCxnSpPr>
        <p:spPr>
          <a:xfrm>
            <a:off x="640080" y="1417320"/>
            <a:ext cx="10881360" cy="0"/>
          </a:xfrm>
          <a:prstGeom prst="line">
            <a:avLst/>
          </a:prstGeom>
          <a:ln w="19050">
            <a:solidFill>
              <a:srgbClr val="1B6E61"/>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40080" y="1828800"/>
            <a:ext cx="3520440" cy="402336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57400"/>
            <a:ext cx="3063240" cy="548640"/>
          </a:xfrm>
          <a:prstGeom prst="rect">
            <a:avLst/>
          </a:prstGeom>
          <a:noFill/>
        </p:spPr>
        <p:txBody>
          <a:bodyPr wrap="square">
            <a:spAutoFit/>
          </a:bodyPr>
          <a:lstStyle/>
          <a:p>
            <a:pPr algn="l"/>
            <a:r>
              <a:rPr sz="1800" b="1" i="0">
                <a:solidFill>
                  <a:srgbClr val="2DB49E"/>
                </a:solidFill>
                <a:latin typeface="Calibri"/>
              </a:rPr>
              <a:t>Primary: Patients</a:t>
            </a:r>
          </a:p>
        </p:txBody>
      </p:sp>
      <p:sp>
        <p:nvSpPr>
          <p:cNvPr id="7" name="TextBox 6"/>
          <p:cNvSpPr txBox="1"/>
          <p:nvPr/>
        </p:nvSpPr>
        <p:spPr>
          <a:xfrm>
            <a:off x="868680" y="2606040"/>
            <a:ext cx="3063240" cy="3017520"/>
          </a:xfrm>
          <a:prstGeom prst="rect">
            <a:avLst/>
          </a:prstGeom>
          <a:noFill/>
        </p:spPr>
        <p:txBody>
          <a:bodyPr wrap="square">
            <a:spAutoFit/>
          </a:bodyPr>
          <a:lstStyle/>
          <a:p>
            <a:pPr algn="l"/>
            <a:r>
              <a:rPr sz="1450" b="0" i="0">
                <a:solidFill>
                  <a:srgbClr val="C9D6E3"/>
                </a:solidFill>
                <a:latin typeface="Calibri"/>
              </a:rPr>
              <a:t>Undiagnosed or recently-diagnosed Lyme patients navigating dismissal and delay — the population most likely to be told it's “just stress.”</a:t>
            </a:r>
          </a:p>
        </p:txBody>
      </p:sp>
      <p:sp>
        <p:nvSpPr>
          <p:cNvPr id="8" name="Rounded Rectangle 7"/>
          <p:cNvSpPr/>
          <p:nvPr/>
        </p:nvSpPr>
        <p:spPr>
          <a:xfrm>
            <a:off x="4343400" y="1828800"/>
            <a:ext cx="3520440" cy="402336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2057400"/>
            <a:ext cx="3063240" cy="548640"/>
          </a:xfrm>
          <a:prstGeom prst="rect">
            <a:avLst/>
          </a:prstGeom>
          <a:noFill/>
        </p:spPr>
        <p:txBody>
          <a:bodyPr wrap="square">
            <a:spAutoFit/>
          </a:bodyPr>
          <a:lstStyle/>
          <a:p>
            <a:pPr algn="l"/>
            <a:r>
              <a:rPr sz="1800" b="1" i="0">
                <a:solidFill>
                  <a:srgbClr val="2DB49E"/>
                </a:solidFill>
                <a:latin typeface="Calibri"/>
              </a:rPr>
              <a:t>Secondary: Clinicians</a:t>
            </a:r>
          </a:p>
        </p:txBody>
      </p:sp>
      <p:sp>
        <p:nvSpPr>
          <p:cNvPr id="10" name="TextBox 9"/>
          <p:cNvSpPr txBox="1"/>
          <p:nvPr/>
        </p:nvSpPr>
        <p:spPr>
          <a:xfrm>
            <a:off x="4572000" y="2606040"/>
            <a:ext cx="3063240" cy="3017520"/>
          </a:xfrm>
          <a:prstGeom prst="rect">
            <a:avLst/>
          </a:prstGeom>
          <a:noFill/>
        </p:spPr>
        <p:txBody>
          <a:bodyPr wrap="square">
            <a:spAutoFit/>
          </a:bodyPr>
          <a:lstStyle/>
          <a:p>
            <a:pPr algn="l"/>
            <a:r>
              <a:rPr sz="1450" b="0" i="0">
                <a:solidFill>
                  <a:srgbClr val="C9D6E3"/>
                </a:solidFill>
                <a:latin typeface="Calibri"/>
              </a:rPr>
              <a:t>The specialists those patients eventually see, who receive the AI-generated one-page handoff instead of a fragmented history.</a:t>
            </a:r>
          </a:p>
        </p:txBody>
      </p:sp>
      <p:sp>
        <p:nvSpPr>
          <p:cNvPr id="11" name="Rounded Rectangle 10"/>
          <p:cNvSpPr/>
          <p:nvPr/>
        </p:nvSpPr>
        <p:spPr>
          <a:xfrm>
            <a:off x="8046720" y="1828800"/>
            <a:ext cx="3520440" cy="402336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20" y="2057400"/>
            <a:ext cx="3063240" cy="548640"/>
          </a:xfrm>
          <a:prstGeom prst="rect">
            <a:avLst/>
          </a:prstGeom>
          <a:noFill/>
        </p:spPr>
        <p:txBody>
          <a:bodyPr wrap="square">
            <a:spAutoFit/>
          </a:bodyPr>
          <a:lstStyle/>
          <a:p>
            <a:pPr algn="l"/>
            <a:r>
              <a:rPr sz="1800" b="1" i="0">
                <a:solidFill>
                  <a:srgbClr val="2DB49E"/>
                </a:solidFill>
                <a:latin typeface="Calibri"/>
              </a:rPr>
              <a:t>Institutional: Sponsor chain</a:t>
            </a:r>
          </a:p>
        </p:txBody>
      </p:sp>
      <p:sp>
        <p:nvSpPr>
          <p:cNvPr id="13" name="TextBox 12"/>
          <p:cNvSpPr txBox="1"/>
          <p:nvPr/>
        </p:nvSpPr>
        <p:spPr>
          <a:xfrm>
            <a:off x="8275320" y="2606040"/>
            <a:ext cx="3063240" cy="3017520"/>
          </a:xfrm>
          <a:prstGeom prst="rect">
            <a:avLst/>
          </a:prstGeom>
          <a:noFill/>
        </p:spPr>
        <p:txBody>
          <a:bodyPr wrap="square">
            <a:spAutoFit/>
          </a:bodyPr>
          <a:lstStyle/>
          <a:p>
            <a:pPr algn="l"/>
            <a:r>
              <a:rPr sz="1450" b="0" i="0">
                <a:solidFill>
                  <a:srgbClr val="C9D6E3"/>
                </a:solidFill>
                <a:latin typeface="Calibri"/>
              </a:rPr>
              <a:t>HHS OASH → LymeX Innovation Accelerator → NIH ORWH, evaluating whether this closes a real, named gap in diagnostic delay.</a:t>
            </a:r>
          </a:p>
        </p:txBody>
      </p:sp>
      <p:sp>
        <p:nvSpPr>
          <p:cNvPr id="14" name="TextBox 13"/>
          <p:cNvSpPr txBox="1"/>
          <p:nvPr/>
        </p:nvSpPr>
        <p:spPr>
          <a:xfrm>
            <a:off x="640080" y="6492240"/>
            <a:ext cx="5486400" cy="274320"/>
          </a:xfrm>
          <a:prstGeom prst="rect">
            <a:avLst/>
          </a:prstGeom>
          <a:noFill/>
        </p:spPr>
        <p:txBody>
          <a:bodyPr wrap="square">
            <a:spAutoFit/>
          </a:bodyPr>
          <a:lstStyle/>
          <a:p>
            <a:pPr algn="l"/>
            <a:r>
              <a:rPr sz="1000" b="0" i="0">
                <a:solidFill>
                  <a:srgbClr val="6E829C"/>
                </a:solidFill>
                <a:latin typeface="Calibri"/>
              </a:rPr>
              <a:t>ClearSignal — LymeX Innovation Accelerator (HHS OASH / NIH ORWH)</a:t>
            </a:r>
          </a:p>
        </p:txBody>
      </p:sp>
      <p:sp>
        <p:nvSpPr>
          <p:cNvPr id="15" name="TextBox 14"/>
          <p:cNvSpPr txBox="1"/>
          <p:nvPr/>
        </p:nvSpPr>
        <p:spPr>
          <a:xfrm>
            <a:off x="11247120" y="6492240"/>
            <a:ext cx="548640" cy="274320"/>
          </a:xfrm>
          <a:prstGeom prst="rect">
            <a:avLst/>
          </a:prstGeom>
          <a:noFill/>
        </p:spPr>
        <p:txBody>
          <a:bodyPr wrap="square">
            <a:spAutoFit/>
          </a:bodyPr>
          <a:lstStyle/>
          <a:p>
            <a:pPr algn="r"/>
            <a:r>
              <a:rPr sz="1000" b="0" i="0">
                <a:solidFill>
                  <a:srgbClr val="6E829C"/>
                </a:solidFill>
                <a:latin typeface="Calibri"/>
              </a:rPr>
              <a:t>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640080" y="365760"/>
            <a:ext cx="9144000" cy="457200"/>
          </a:xfrm>
          <a:prstGeom prst="rect">
            <a:avLst/>
          </a:prstGeom>
          <a:noFill/>
        </p:spPr>
        <p:txBody>
          <a:bodyPr wrap="square">
            <a:spAutoFit/>
          </a:bodyPr>
          <a:lstStyle/>
          <a:p>
            <a:pPr algn="l"/>
            <a:r>
              <a:rPr sz="1400" b="1" i="0">
                <a:solidFill>
                  <a:srgbClr val="2DB49E"/>
                </a:solidFill>
                <a:latin typeface="Calibri"/>
              </a:rPr>
              <a:t>THE SOLUTION</a:t>
            </a:r>
          </a:p>
        </p:txBody>
      </p:sp>
      <p:sp>
        <p:nvSpPr>
          <p:cNvPr id="3" name="TextBox 2"/>
          <p:cNvSpPr txBox="1"/>
          <p:nvPr/>
        </p:nvSpPr>
        <p:spPr>
          <a:xfrm>
            <a:off x="640080" y="685800"/>
            <a:ext cx="10881360" cy="914400"/>
          </a:xfrm>
          <a:prstGeom prst="rect">
            <a:avLst/>
          </a:prstGeom>
          <a:noFill/>
        </p:spPr>
        <p:txBody>
          <a:bodyPr wrap="square">
            <a:spAutoFit/>
          </a:bodyPr>
          <a:lstStyle/>
          <a:p>
            <a:pPr algn="l"/>
            <a:r>
              <a:rPr sz="3200" b="1" i="0">
                <a:solidFill>
                  <a:srgbClr val="FFFFFF"/>
                </a:solidFill>
                <a:latin typeface="Calibri"/>
              </a:rPr>
              <a:t>Turn the missing sequence into usable evidence</a:t>
            </a:r>
          </a:p>
        </p:txBody>
      </p:sp>
      <p:cxnSp>
        <p:nvCxnSpPr>
          <p:cNvPr id="4" name="Connector 3"/>
          <p:cNvCxnSpPr/>
          <p:nvPr/>
        </p:nvCxnSpPr>
        <p:spPr>
          <a:xfrm>
            <a:off x="640080" y="1417320"/>
            <a:ext cx="10881360" cy="0"/>
          </a:xfrm>
          <a:prstGeom prst="line">
            <a:avLst/>
          </a:prstGeom>
          <a:ln w="19050">
            <a:solidFill>
              <a:srgbClr val="1B6E6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783080"/>
            <a:ext cx="10881360" cy="4206240"/>
          </a:xfrm>
          <a:prstGeom prst="rect">
            <a:avLst/>
          </a:prstGeom>
          <a:noFill/>
        </p:spPr>
        <p:txBody>
          <a:bodyPr wrap="square">
            <a:spAutoFit/>
          </a:bodyPr>
          <a:lstStyle/>
          <a:p>
            <a:pPr>
              <a:spcAft>
                <a:spcPts val="1400"/>
              </a:spcAft>
            </a:pPr>
            <a:r>
              <a:rPr sz="1700" b="1">
                <a:solidFill>
                  <a:srgbClr val="FFFFFF"/>
                </a:solidFill>
                <a:latin typeface="Calibri"/>
              </a:rPr>
              <a:t>•  Hybrid RAG chat  </a:t>
            </a:r>
            <a:r>
              <a:rPr sz="1700">
                <a:solidFill>
                  <a:srgbClr val="C9D6E3"/>
                </a:solidFill>
                <a:latin typeface="Calibri"/>
              </a:rPr>
              <a:t>grounded in real CDC Lyme surveillance + educational data — answers with citations, or says “I don't know” rather than guessing.</a:t>
            </a:r>
          </a:p>
          <a:p>
            <a:pPr>
              <a:spcAft>
                <a:spcPts val="1400"/>
              </a:spcAft>
            </a:pPr>
            <a:r>
              <a:rPr sz="1700" b="1">
                <a:solidFill>
                  <a:srgbClr val="FFFFFF"/>
                </a:solidFill>
                <a:latin typeface="Calibri"/>
              </a:rPr>
              <a:t>•  Negative-test contextualizer  </a:t>
            </a:r>
            <a:r>
              <a:rPr sz="1700">
                <a:solidFill>
                  <a:srgbClr val="C9D6E3"/>
                </a:solidFill>
                <a:latin typeface="Calibri"/>
              </a:rPr>
              <a:t>explains a negative result against real CDC sensitivity/timing data instead of letting it read as final.</a:t>
            </a:r>
          </a:p>
          <a:p>
            <a:pPr>
              <a:spcAft>
                <a:spcPts val="1400"/>
              </a:spcAft>
            </a:pPr>
            <a:r>
              <a:rPr sz="1700" b="1">
                <a:solidFill>
                  <a:srgbClr val="FFFFFF"/>
                </a:solidFill>
                <a:latin typeface="Calibri"/>
              </a:rPr>
              <a:t>•  Symptom + function journal  </a:t>
            </a:r>
            <a:r>
              <a:rPr sz="1700">
                <a:solidFill>
                  <a:srgbClr val="C9D6E3"/>
                </a:solidFill>
                <a:latin typeface="Calibri"/>
              </a:rPr>
              <a:t>captures good days as well as bad ones — episodic illness looks continuous if only flare-ups get logged.</a:t>
            </a:r>
          </a:p>
          <a:p>
            <a:pPr>
              <a:spcAft>
                <a:spcPts val="1400"/>
              </a:spcAft>
            </a:pPr>
            <a:r>
              <a:rPr sz="1700" b="1">
                <a:solidFill>
                  <a:srgbClr val="FFFFFF"/>
                </a:solidFill>
                <a:latin typeface="Calibri"/>
              </a:rPr>
              <a:t>•  Timeline anchors &amp; exposure reconstruction  </a:t>
            </a:r>
            <a:r>
              <a:rPr sz="1700">
                <a:solidFill>
                  <a:srgbClr val="C9D6E3"/>
                </a:solidFill>
                <a:latin typeface="Calibri"/>
              </a:rPr>
              <a:t>turns “I don't remember exactly when” into a real dated sequence, cross-referenced against CDC county exposure data.</a:t>
            </a:r>
          </a:p>
          <a:p>
            <a:pPr>
              <a:spcAft>
                <a:spcPts val="1400"/>
              </a:spcAft>
            </a:pPr>
            <a:r>
              <a:rPr sz="1700" b="1">
                <a:solidFill>
                  <a:srgbClr val="FFFFFF"/>
                </a:solidFill>
                <a:latin typeface="Calibri"/>
              </a:rPr>
              <a:t>•  AI-generated clinician handoff  </a:t>
            </a:r>
            <a:r>
              <a:rPr sz="1700">
                <a:solidFill>
                  <a:srgbClr val="C9D6E3"/>
                </a:solidFill>
                <a:latin typeface="Calibri"/>
              </a:rPr>
              <a:t>compiles the above into a one-page, clinician-readable document — under a deterministic safety layer that never diagnoses.</a:t>
            </a:r>
          </a:p>
        </p:txBody>
      </p:sp>
      <p:sp>
        <p:nvSpPr>
          <p:cNvPr id="6" name="TextBox 5"/>
          <p:cNvSpPr txBox="1"/>
          <p:nvPr/>
        </p:nvSpPr>
        <p:spPr>
          <a:xfrm>
            <a:off x="640080" y="6492240"/>
            <a:ext cx="5486400" cy="274320"/>
          </a:xfrm>
          <a:prstGeom prst="rect">
            <a:avLst/>
          </a:prstGeom>
          <a:noFill/>
        </p:spPr>
        <p:txBody>
          <a:bodyPr wrap="square">
            <a:spAutoFit/>
          </a:bodyPr>
          <a:lstStyle/>
          <a:p>
            <a:pPr algn="l"/>
            <a:r>
              <a:rPr sz="1000" b="0" i="0">
                <a:solidFill>
                  <a:srgbClr val="6E829C"/>
                </a:solidFill>
                <a:latin typeface="Calibri"/>
              </a:rPr>
              <a:t>ClearSignal — LymeX Innovation Accelerator (HHS OASH / NIH ORWH)</a:t>
            </a:r>
          </a:p>
        </p:txBody>
      </p:sp>
      <p:sp>
        <p:nvSpPr>
          <p:cNvPr id="7" name="TextBox 6"/>
          <p:cNvSpPr txBox="1"/>
          <p:nvPr/>
        </p:nvSpPr>
        <p:spPr>
          <a:xfrm>
            <a:off x="11247120" y="6492240"/>
            <a:ext cx="548640" cy="274320"/>
          </a:xfrm>
          <a:prstGeom prst="rect">
            <a:avLst/>
          </a:prstGeom>
          <a:noFill/>
        </p:spPr>
        <p:txBody>
          <a:bodyPr wrap="square">
            <a:spAutoFit/>
          </a:bodyPr>
          <a:lstStyle/>
          <a:p>
            <a:pPr algn="r"/>
            <a:r>
              <a:rPr sz="1000" b="0" i="0">
                <a:solidFill>
                  <a:srgbClr val="6E829C"/>
                </a:solidFill>
                <a:latin typeface="Calibri"/>
              </a:rPr>
              <a:t>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640080" y="365760"/>
            <a:ext cx="9144000" cy="457200"/>
          </a:xfrm>
          <a:prstGeom prst="rect">
            <a:avLst/>
          </a:prstGeom>
          <a:noFill/>
        </p:spPr>
        <p:txBody>
          <a:bodyPr wrap="square">
            <a:spAutoFit/>
          </a:bodyPr>
          <a:lstStyle/>
          <a:p>
            <a:pPr algn="l"/>
            <a:r>
              <a:rPr sz="1400" b="1" i="0">
                <a:solidFill>
                  <a:srgbClr val="2DB49E"/>
                </a:solidFill>
                <a:latin typeface="Calibri"/>
              </a:rPr>
              <a:t>KEY FEATURES &amp; AI CAPABILITIES</a:t>
            </a:r>
          </a:p>
        </p:txBody>
      </p:sp>
      <p:sp>
        <p:nvSpPr>
          <p:cNvPr id="3" name="TextBox 2"/>
          <p:cNvSpPr txBox="1"/>
          <p:nvPr/>
        </p:nvSpPr>
        <p:spPr>
          <a:xfrm>
            <a:off x="640080" y="685800"/>
            <a:ext cx="10881360" cy="914400"/>
          </a:xfrm>
          <a:prstGeom prst="rect">
            <a:avLst/>
          </a:prstGeom>
          <a:noFill/>
        </p:spPr>
        <p:txBody>
          <a:bodyPr wrap="square">
            <a:spAutoFit/>
          </a:bodyPr>
          <a:lstStyle/>
          <a:p>
            <a:pPr algn="l"/>
            <a:r>
              <a:rPr sz="3000" b="1" i="0">
                <a:solidFill>
                  <a:srgbClr val="FFFFFF"/>
                </a:solidFill>
                <a:latin typeface="Calibri"/>
              </a:rPr>
              <a:t>What's actually running today</a:t>
            </a:r>
          </a:p>
        </p:txBody>
      </p:sp>
      <p:cxnSp>
        <p:nvCxnSpPr>
          <p:cNvPr id="4" name="Connector 3"/>
          <p:cNvCxnSpPr/>
          <p:nvPr/>
        </p:nvCxnSpPr>
        <p:spPr>
          <a:xfrm>
            <a:off x="640080" y="1417320"/>
            <a:ext cx="10881360" cy="0"/>
          </a:xfrm>
          <a:prstGeom prst="line">
            <a:avLst/>
          </a:prstGeom>
          <a:ln w="19050">
            <a:solidFill>
              <a:srgbClr val="1B6E6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737360"/>
            <a:ext cx="10881360" cy="4480560"/>
          </a:xfrm>
          <a:prstGeom prst="rect">
            <a:avLst/>
          </a:prstGeom>
          <a:noFill/>
        </p:spPr>
        <p:txBody>
          <a:bodyPr wrap="square">
            <a:spAutoFit/>
          </a:bodyPr>
          <a:lstStyle/>
          <a:p>
            <a:pPr>
              <a:spcAft>
                <a:spcPts val="1400"/>
              </a:spcAft>
            </a:pPr>
            <a:r>
              <a:rPr sz="1550">
                <a:solidFill>
                  <a:srgbClr val="C9D6E3"/>
                </a:solidFill>
                <a:latin typeface="Calibri"/>
              </a:rPr>
              <a:t>•  Hybrid RAG: dense (Upstash Vector) + BM25 keyword search, fused with Reciprocal Rank Fusion, reranked by an LLM call, hard relevance floor</a:t>
            </a:r>
          </a:p>
          <a:p>
            <a:pPr>
              <a:spcAft>
                <a:spcPts val="1400"/>
              </a:spcAft>
            </a:pPr>
            <a:r>
              <a:rPr sz="1550">
                <a:solidFill>
                  <a:srgbClr val="C9D6E3"/>
                </a:solidFill>
                <a:latin typeface="Calibri"/>
              </a:rPr>
              <a:t>•  Agentic journal assistant: a real Groq tool-calling loop over 6 tools — computes actual severity-trend slopes and symptom-free intervals from the patient's own logged data, not canned answers</a:t>
            </a:r>
          </a:p>
          <a:p>
            <a:pPr>
              <a:spcAft>
                <a:spcPts val="1400"/>
              </a:spcAft>
            </a:pPr>
            <a:r>
              <a:rPr sz="1550">
                <a:solidFill>
                  <a:srgbClr val="C9D6E3"/>
                </a:solidFill>
                <a:latin typeface="Calibri"/>
              </a:rPr>
              <a:t>•  Deterministic red-flag layer: escalates chest pain, stroke signs, anaphylaxis, sepsis, crisis ideation — runs before any model call, no model in the loop</a:t>
            </a:r>
          </a:p>
          <a:p>
            <a:pPr>
              <a:spcAft>
                <a:spcPts val="1400"/>
              </a:spcAft>
            </a:pPr>
            <a:r>
              <a:rPr sz="1550">
                <a:solidFill>
                  <a:srgbClr val="C9D6E3"/>
                </a:solidFill>
                <a:latin typeface="Calibri"/>
              </a:rPr>
              <a:t>•  Voice input/output: Groq Whisper (STT) + Groq TTS, animated talking avatar (Aura) synced to speech energy, browser SpeechSynthesis fallback</a:t>
            </a:r>
          </a:p>
          <a:p>
            <a:pPr>
              <a:spcAft>
                <a:spcPts val="1400"/>
              </a:spcAft>
            </a:pPr>
            <a:r>
              <a:rPr sz="1550">
                <a:solidFill>
                  <a:srgbClr val="C9D6E3"/>
                </a:solidFill>
                <a:latin typeface="Calibri"/>
              </a:rPr>
              <a:t>•  AI clinician handoff generator with a deterministic template fallback if generation fails</a:t>
            </a:r>
          </a:p>
          <a:p>
            <a:pPr>
              <a:spcAft>
                <a:spcPts val="1400"/>
              </a:spcAft>
            </a:pPr>
            <a:r>
              <a:rPr sz="1550">
                <a:solidFill>
                  <a:srgbClr val="C9D6E3"/>
                </a:solidFill>
                <a:latin typeface="Calibri"/>
              </a:rPr>
              <a:t>•  Co-infection prompts, contested-territory page (PTLDS), provider/trial lookup, low-stimulation mode</a:t>
            </a:r>
          </a:p>
        </p:txBody>
      </p:sp>
      <p:sp>
        <p:nvSpPr>
          <p:cNvPr id="6" name="TextBox 5"/>
          <p:cNvSpPr txBox="1"/>
          <p:nvPr/>
        </p:nvSpPr>
        <p:spPr>
          <a:xfrm>
            <a:off x="640080" y="6492240"/>
            <a:ext cx="5486400" cy="274320"/>
          </a:xfrm>
          <a:prstGeom prst="rect">
            <a:avLst/>
          </a:prstGeom>
          <a:noFill/>
        </p:spPr>
        <p:txBody>
          <a:bodyPr wrap="square">
            <a:spAutoFit/>
          </a:bodyPr>
          <a:lstStyle/>
          <a:p>
            <a:pPr algn="l"/>
            <a:r>
              <a:rPr sz="1000" b="0" i="0">
                <a:solidFill>
                  <a:srgbClr val="6E829C"/>
                </a:solidFill>
                <a:latin typeface="Calibri"/>
              </a:rPr>
              <a:t>ClearSignal — LymeX Innovation Accelerator (HHS OASH / NIH ORWH)</a:t>
            </a:r>
          </a:p>
        </p:txBody>
      </p:sp>
      <p:sp>
        <p:nvSpPr>
          <p:cNvPr id="7" name="TextBox 6"/>
          <p:cNvSpPr txBox="1"/>
          <p:nvPr/>
        </p:nvSpPr>
        <p:spPr>
          <a:xfrm>
            <a:off x="11247120" y="6492240"/>
            <a:ext cx="548640" cy="274320"/>
          </a:xfrm>
          <a:prstGeom prst="rect">
            <a:avLst/>
          </a:prstGeom>
          <a:noFill/>
        </p:spPr>
        <p:txBody>
          <a:bodyPr wrap="square">
            <a:spAutoFit/>
          </a:bodyPr>
          <a:lstStyle/>
          <a:p>
            <a:pPr algn="r"/>
            <a:r>
              <a:rPr sz="1000" b="0" i="0">
                <a:solidFill>
                  <a:srgbClr val="6E829C"/>
                </a:solidFill>
                <a:latin typeface="Calibri"/>
              </a:rPr>
              <a:t>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640080" y="365760"/>
            <a:ext cx="9144000" cy="457200"/>
          </a:xfrm>
          <a:prstGeom prst="rect">
            <a:avLst/>
          </a:prstGeom>
          <a:noFill/>
        </p:spPr>
        <p:txBody>
          <a:bodyPr wrap="square">
            <a:spAutoFit/>
          </a:bodyPr>
          <a:lstStyle/>
          <a:p>
            <a:pPr algn="l"/>
            <a:r>
              <a:rPr sz="1400" b="1" i="0">
                <a:solidFill>
                  <a:srgbClr val="2DB49E"/>
                </a:solidFill>
                <a:latin typeface="Calibri"/>
              </a:rPr>
              <a:t>ARCHITECTURE</a:t>
            </a:r>
          </a:p>
        </p:txBody>
      </p:sp>
      <p:sp>
        <p:nvSpPr>
          <p:cNvPr id="3" name="TextBox 2"/>
          <p:cNvSpPr txBox="1"/>
          <p:nvPr/>
        </p:nvSpPr>
        <p:spPr>
          <a:xfrm>
            <a:off x="640080" y="685800"/>
            <a:ext cx="10881360" cy="914400"/>
          </a:xfrm>
          <a:prstGeom prst="rect">
            <a:avLst/>
          </a:prstGeom>
          <a:noFill/>
        </p:spPr>
        <p:txBody>
          <a:bodyPr wrap="square">
            <a:spAutoFit/>
          </a:bodyPr>
          <a:lstStyle/>
          <a:p>
            <a:pPr algn="l"/>
            <a:r>
              <a:rPr sz="2800" b="1" i="0">
                <a:solidFill>
                  <a:srgbClr val="FFFFFF"/>
                </a:solidFill>
                <a:latin typeface="Calibri"/>
              </a:rPr>
              <a:t>Client → Netlify functions → AI services → data</a:t>
            </a:r>
          </a:p>
        </p:txBody>
      </p:sp>
      <p:cxnSp>
        <p:nvCxnSpPr>
          <p:cNvPr id="4" name="Connector 3"/>
          <p:cNvCxnSpPr/>
          <p:nvPr/>
        </p:nvCxnSpPr>
        <p:spPr>
          <a:xfrm>
            <a:off x="640080" y="1371600"/>
            <a:ext cx="10881360" cy="0"/>
          </a:xfrm>
          <a:prstGeom prst="line">
            <a:avLst/>
          </a:prstGeom>
          <a:ln w="19050">
            <a:solidFill>
              <a:srgbClr val="1B6E61"/>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8640" y="1691640"/>
            <a:ext cx="2834640" cy="96012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300">
                <a:solidFill>
                  <a:srgbClr val="FFFFFF"/>
                </a:solidFill>
              </a:rPr>
              <a:t>Browser Client</a:t>
            </a:r>
          </a:p>
          <a:p>
            <a:pPr algn="ctr"/>
            <a:r>
              <a:rPr sz="950">
                <a:solidFill>
                  <a:srgbClr val="C9D6E3"/>
                </a:solidFill>
              </a:rPr>
              <a:t>Next.js 16 · React 19
AES-GCM client-side crypto</a:t>
            </a:r>
          </a:p>
        </p:txBody>
      </p:sp>
      <p:sp>
        <p:nvSpPr>
          <p:cNvPr id="6" name="Rounded Rectangle 5"/>
          <p:cNvSpPr/>
          <p:nvPr/>
        </p:nvSpPr>
        <p:spPr>
          <a:xfrm>
            <a:off x="548640" y="2880360"/>
            <a:ext cx="2834640" cy="96012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300">
                <a:solidFill>
                  <a:srgbClr val="FFFFFF"/>
                </a:solidFill>
              </a:rPr>
              <a:t>Voice I/O</a:t>
            </a:r>
          </a:p>
          <a:p>
            <a:pPr algn="ctr"/>
            <a:r>
              <a:rPr sz="950">
                <a:solidFill>
                  <a:srgbClr val="C9D6E3"/>
                </a:solidFill>
              </a:rPr>
              <a:t>MediaRecorder → /api/transcribe
/api/speak → TTS playback</a:t>
            </a:r>
          </a:p>
        </p:txBody>
      </p:sp>
      <p:sp>
        <p:nvSpPr>
          <p:cNvPr id="7" name="Rounded Rectangle 6"/>
          <p:cNvSpPr/>
          <p:nvPr/>
        </p:nvSpPr>
        <p:spPr>
          <a:xfrm>
            <a:off x="4251960" y="1691640"/>
            <a:ext cx="3063240" cy="96012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250">
                <a:solidFill>
                  <a:srgbClr val="FFFFFF"/>
                </a:solidFill>
              </a:rPr>
              <a:t>Netlify Functions</a:t>
            </a:r>
          </a:p>
          <a:p>
            <a:pPr algn="ctr"/>
            <a:r>
              <a:rPr sz="950">
                <a:solidFill>
                  <a:srgbClr val="C9D6E3"/>
                </a:solidFill>
              </a:rPr>
              <a:t>/api/chat  /api/journal-agent
/api/handoff-narrative + 7 more</a:t>
            </a:r>
          </a:p>
        </p:txBody>
      </p:sp>
      <p:sp>
        <p:nvSpPr>
          <p:cNvPr id="8" name="Rounded Rectangle 7"/>
          <p:cNvSpPr/>
          <p:nvPr/>
        </p:nvSpPr>
        <p:spPr>
          <a:xfrm>
            <a:off x="4251960" y="2880360"/>
            <a:ext cx="3063240" cy="96012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250">
                <a:solidFill>
                  <a:srgbClr val="FFFFFF"/>
                </a:solidFill>
              </a:rPr>
              <a:t>Obs. &amp; Caching</a:t>
            </a:r>
          </a:p>
          <a:p>
            <a:pPr algn="ctr"/>
            <a:r>
              <a:rPr sz="950">
                <a:solidFill>
                  <a:srgbClr val="C9D6E3"/>
                </a:solidFill>
              </a:rPr>
              <a:t>logger.ts · metrics.ts
cache.ts (TTL, retrieval+TTS)</a:t>
            </a:r>
          </a:p>
        </p:txBody>
      </p:sp>
      <p:sp>
        <p:nvSpPr>
          <p:cNvPr id="9" name="Rounded Rectangle 8"/>
          <p:cNvSpPr/>
          <p:nvPr/>
        </p:nvSpPr>
        <p:spPr>
          <a:xfrm>
            <a:off x="8321040" y="1051560"/>
            <a:ext cx="3291840" cy="96012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250">
                <a:solidFill>
                  <a:srgbClr val="FFFFFF"/>
                </a:solidFill>
              </a:rPr>
              <a:t>Groq API</a:t>
            </a:r>
          </a:p>
          <a:p>
            <a:pPr algn="ctr"/>
            <a:r>
              <a:rPr sz="950">
                <a:solidFill>
                  <a:srgbClr val="C9D6E3"/>
                </a:solidFill>
              </a:rPr>
              <a:t>gpt-oss-120b · gpt-oss-20b
whisper-large-v3-turbo · playai-tts</a:t>
            </a:r>
          </a:p>
        </p:txBody>
      </p:sp>
      <p:sp>
        <p:nvSpPr>
          <p:cNvPr id="10" name="Rounded Rectangle 9"/>
          <p:cNvSpPr/>
          <p:nvPr/>
        </p:nvSpPr>
        <p:spPr>
          <a:xfrm>
            <a:off x="8321040" y="2331720"/>
            <a:ext cx="3291840" cy="96012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250">
                <a:solidFill>
                  <a:srgbClr val="FFFFFF"/>
                </a:solidFill>
              </a:rPr>
              <a:t>Upstash Vector</a:t>
            </a:r>
          </a:p>
          <a:p>
            <a:pPr algn="ctr"/>
            <a:r>
              <a:rPr sz="950">
                <a:solidFill>
                  <a:srgbClr val="C9D6E3"/>
                </a:solidFill>
              </a:rPr>
              <a:t>dense retrieval
built-in embedding model</a:t>
            </a:r>
          </a:p>
        </p:txBody>
      </p:sp>
      <p:sp>
        <p:nvSpPr>
          <p:cNvPr id="11" name="Rounded Rectangle 10"/>
          <p:cNvSpPr/>
          <p:nvPr/>
        </p:nvSpPr>
        <p:spPr>
          <a:xfrm>
            <a:off x="8321040" y="3611880"/>
            <a:ext cx="3291840" cy="96012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250">
                <a:solidFill>
                  <a:srgbClr val="FFFFFF"/>
                </a:solidFill>
              </a:rPr>
              <a:t>Back4App (Parse/Mongo)</a:t>
            </a:r>
          </a:p>
          <a:p>
            <a:pPr algn="ctr"/>
            <a:r>
              <a:rPr sz="950">
                <a:solidFill>
                  <a:srgbClr val="C9D6E3"/>
                </a:solidFill>
              </a:rPr>
              <a:t>7 classes, per-user ACLs
HealthLog, SymptomEntry, ...</a:t>
            </a:r>
          </a:p>
        </p:txBody>
      </p:sp>
      <p:sp>
        <p:nvSpPr>
          <p:cNvPr id="12" name="Rounded Rectangle 11"/>
          <p:cNvSpPr/>
          <p:nvPr/>
        </p:nvSpPr>
        <p:spPr>
          <a:xfrm>
            <a:off x="4251960" y="4206240"/>
            <a:ext cx="3063240" cy="77724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200">
                <a:solidFill>
                  <a:srgbClr val="FFFFFF"/>
                </a:solidFill>
              </a:rPr>
              <a:t>BM25 (in-repo)</a:t>
            </a:r>
          </a:p>
          <a:p>
            <a:pPr algn="ctr"/>
            <a:r>
              <a:rPr sz="950">
                <a:solidFill>
                  <a:srgbClr val="C9D6E3"/>
                </a:solidFill>
              </a:rPr>
              <a:t>data/corpus.json keyword index</a:t>
            </a:r>
          </a:p>
        </p:txBody>
      </p:sp>
      <p:cxnSp>
        <p:nvCxnSpPr>
          <p:cNvPr id="13" name="Connector 12"/>
          <p:cNvCxnSpPr/>
          <p:nvPr/>
        </p:nvCxnSpPr>
        <p:spPr>
          <a:xfrm>
            <a:off x="3383280" y="2148840"/>
            <a:ext cx="868680" cy="0"/>
          </a:xfrm>
          <a:prstGeom prst="bentConnector3">
            <a:avLst/>
          </a:prstGeom>
          <a:ln w="22225">
            <a:solidFill>
              <a:srgbClr val="2DB49E"/>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3383280" y="3337560"/>
            <a:ext cx="868680" cy="0"/>
          </a:xfrm>
          <a:prstGeom prst="bentConnector3">
            <a:avLst/>
          </a:prstGeom>
          <a:ln w="22225">
            <a:solidFill>
              <a:srgbClr val="2DB49E"/>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7315200" y="1554480"/>
            <a:ext cx="1005840" cy="365760"/>
          </a:xfrm>
          <a:prstGeom prst="bentConnector3">
            <a:avLst/>
          </a:prstGeom>
          <a:ln w="22225">
            <a:solidFill>
              <a:srgbClr val="2DB49E"/>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7315200" y="2788920"/>
            <a:ext cx="1005840" cy="45720"/>
          </a:xfrm>
          <a:prstGeom prst="bentConnector3">
            <a:avLst/>
          </a:prstGeom>
          <a:ln w="22225">
            <a:solidFill>
              <a:srgbClr val="2DB49E"/>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315200" y="3566160"/>
            <a:ext cx="1005840" cy="411479"/>
          </a:xfrm>
          <a:prstGeom prst="bentConnector3">
            <a:avLst/>
          </a:prstGeom>
          <a:ln w="22225">
            <a:solidFill>
              <a:srgbClr val="2DB49E"/>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760720" y="2880360"/>
            <a:ext cx="0" cy="1709928"/>
          </a:xfrm>
          <a:prstGeom prst="bentConnector3">
            <a:avLst/>
          </a:prstGeom>
          <a:ln w="22225">
            <a:solidFill>
              <a:srgbClr val="2DB49E"/>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48640" y="5257800"/>
            <a:ext cx="11064240" cy="1188720"/>
          </a:xfrm>
          <a:prstGeom prst="rect">
            <a:avLst/>
          </a:prstGeom>
          <a:noFill/>
        </p:spPr>
        <p:txBody>
          <a:bodyPr wrap="square">
            <a:spAutoFit/>
          </a:bodyPr>
          <a:lstStyle/>
          <a:p>
            <a:pPr algn="l"/>
            <a:r>
              <a:rPr sz="1300" b="0" i="1">
                <a:solidFill>
                  <a:srgbClr val="C9D6E3"/>
                </a:solidFill>
                <a:latin typeface="Calibri"/>
              </a:rPr>
              <a:t>Retrieval: dense + BM25, fused via Reciprocal Rank Fusion, LLM-reranked, thresholded — empty context means the model says so instead of guessing. Deployment: Netlify (production) + a verified, multi-stage Docker build (portable/grading path). Full diagrams: design.md §1, 4, 7.</a:t>
            </a:r>
          </a:p>
        </p:txBody>
      </p:sp>
      <p:sp>
        <p:nvSpPr>
          <p:cNvPr id="20" name="TextBox 19"/>
          <p:cNvSpPr txBox="1"/>
          <p:nvPr/>
        </p:nvSpPr>
        <p:spPr>
          <a:xfrm>
            <a:off x="640080" y="6492240"/>
            <a:ext cx="5486400" cy="274320"/>
          </a:xfrm>
          <a:prstGeom prst="rect">
            <a:avLst/>
          </a:prstGeom>
          <a:noFill/>
        </p:spPr>
        <p:txBody>
          <a:bodyPr wrap="square">
            <a:spAutoFit/>
          </a:bodyPr>
          <a:lstStyle/>
          <a:p>
            <a:pPr algn="l"/>
            <a:r>
              <a:rPr sz="1000" b="0" i="0">
                <a:solidFill>
                  <a:srgbClr val="6E829C"/>
                </a:solidFill>
                <a:latin typeface="Calibri"/>
              </a:rPr>
              <a:t>ClearSignal — LymeX Innovation Accelerator (HHS OASH / NIH ORWH)</a:t>
            </a:r>
          </a:p>
        </p:txBody>
      </p:sp>
      <p:sp>
        <p:nvSpPr>
          <p:cNvPr id="21" name="TextBox 20"/>
          <p:cNvSpPr txBox="1"/>
          <p:nvPr/>
        </p:nvSpPr>
        <p:spPr>
          <a:xfrm>
            <a:off x="11247120" y="6492240"/>
            <a:ext cx="548640" cy="274320"/>
          </a:xfrm>
          <a:prstGeom prst="rect">
            <a:avLst/>
          </a:prstGeom>
          <a:noFill/>
        </p:spPr>
        <p:txBody>
          <a:bodyPr wrap="square">
            <a:spAutoFit/>
          </a:bodyPr>
          <a:lstStyle/>
          <a:p>
            <a:pPr algn="r"/>
            <a:r>
              <a:rPr sz="1000" b="0" i="0">
                <a:solidFill>
                  <a:srgbClr val="6E829C"/>
                </a:solidFill>
                <a:latin typeface="Calibri"/>
              </a:rPr>
              <a:t>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640080" y="365760"/>
            <a:ext cx="9144000" cy="457200"/>
          </a:xfrm>
          <a:prstGeom prst="rect">
            <a:avLst/>
          </a:prstGeom>
          <a:noFill/>
        </p:spPr>
        <p:txBody>
          <a:bodyPr wrap="square">
            <a:spAutoFit/>
          </a:bodyPr>
          <a:lstStyle/>
          <a:p>
            <a:pPr algn="l"/>
            <a:r>
              <a:rPr sz="1400" b="1" i="0">
                <a:solidFill>
                  <a:srgbClr val="2DB49E"/>
                </a:solidFill>
                <a:latin typeface="Calibri"/>
              </a:rPr>
              <a:t>AI CAPABILITIES — DEEP DIVE</a:t>
            </a:r>
          </a:p>
        </p:txBody>
      </p:sp>
      <p:sp>
        <p:nvSpPr>
          <p:cNvPr id="3" name="TextBox 2"/>
          <p:cNvSpPr txBox="1"/>
          <p:nvPr/>
        </p:nvSpPr>
        <p:spPr>
          <a:xfrm>
            <a:off x="640080" y="685800"/>
            <a:ext cx="10881360" cy="914400"/>
          </a:xfrm>
          <a:prstGeom prst="rect">
            <a:avLst/>
          </a:prstGeom>
          <a:noFill/>
        </p:spPr>
        <p:txBody>
          <a:bodyPr wrap="square">
            <a:spAutoFit/>
          </a:bodyPr>
          <a:lstStyle/>
          <a:p>
            <a:pPr algn="l"/>
            <a:r>
              <a:rPr sz="2800" b="1" i="0">
                <a:solidFill>
                  <a:srgbClr val="FFFFFF"/>
                </a:solidFill>
                <a:latin typeface="Calibri"/>
              </a:rPr>
              <a:t>Two distinct AI patterns, not one chatbot</a:t>
            </a:r>
          </a:p>
        </p:txBody>
      </p:sp>
      <p:cxnSp>
        <p:nvCxnSpPr>
          <p:cNvPr id="4" name="Connector 3"/>
          <p:cNvCxnSpPr/>
          <p:nvPr/>
        </p:nvCxnSpPr>
        <p:spPr>
          <a:xfrm>
            <a:off x="640080" y="1417320"/>
            <a:ext cx="10881360" cy="0"/>
          </a:xfrm>
          <a:prstGeom prst="line">
            <a:avLst/>
          </a:prstGeom>
          <a:ln w="19050">
            <a:solidFill>
              <a:srgbClr val="1B6E61"/>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40080" y="1737360"/>
            <a:ext cx="5257800" cy="420624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4754880" cy="457200"/>
          </a:xfrm>
          <a:prstGeom prst="rect">
            <a:avLst/>
          </a:prstGeom>
          <a:noFill/>
        </p:spPr>
        <p:txBody>
          <a:bodyPr wrap="square">
            <a:spAutoFit/>
          </a:bodyPr>
          <a:lstStyle/>
          <a:p>
            <a:pPr algn="l"/>
            <a:r>
              <a:rPr sz="1700" b="1" i="0">
                <a:solidFill>
                  <a:srgbClr val="2DB49E"/>
                </a:solidFill>
                <a:latin typeface="Calibri"/>
              </a:rPr>
              <a:t>Fixed pipeline: Hybrid RAG chat</a:t>
            </a:r>
          </a:p>
        </p:txBody>
      </p:sp>
      <p:sp>
        <p:nvSpPr>
          <p:cNvPr id="7" name="TextBox 6"/>
          <p:cNvSpPr txBox="1"/>
          <p:nvPr/>
        </p:nvSpPr>
        <p:spPr>
          <a:xfrm>
            <a:off x="914400" y="2468880"/>
            <a:ext cx="4754880" cy="3291840"/>
          </a:xfrm>
          <a:prstGeom prst="rect">
            <a:avLst/>
          </a:prstGeom>
          <a:noFill/>
        </p:spPr>
        <p:txBody>
          <a:bodyPr wrap="square">
            <a:spAutoFit/>
          </a:bodyPr>
          <a:lstStyle/>
          <a:p>
            <a:pPr>
              <a:spcAft>
                <a:spcPts val="1000"/>
              </a:spcAft>
            </a:pPr>
            <a:r>
              <a:rPr sz="1400">
                <a:solidFill>
                  <a:srgbClr val="C9D6E3"/>
                </a:solidFill>
                <a:latin typeface="Calibri"/>
              </a:rPr>
              <a:t>•  Query rewrite against recent turns (handles follow-ups)</a:t>
            </a:r>
          </a:p>
          <a:p>
            <a:pPr>
              <a:spcAft>
                <a:spcPts val="1000"/>
              </a:spcAft>
            </a:pPr>
            <a:r>
              <a:rPr sz="1400">
                <a:solidFill>
                  <a:srgbClr val="C9D6E3"/>
                </a:solidFill>
                <a:latin typeface="Calibri"/>
              </a:rPr>
              <a:t>•  Dense (Upstash) + BM25 candidates, fused via RRF</a:t>
            </a:r>
          </a:p>
          <a:p>
            <a:pPr>
              <a:spcAft>
                <a:spcPts val="1000"/>
              </a:spcAft>
            </a:pPr>
            <a:r>
              <a:rPr sz="1400">
                <a:solidFill>
                  <a:srgbClr val="C9D6E3"/>
                </a:solidFill>
                <a:latin typeface="Calibri"/>
              </a:rPr>
              <a:t>•  LLM rerank with a hard minimum relevance score</a:t>
            </a:r>
          </a:p>
          <a:p>
            <a:pPr>
              <a:spcAft>
                <a:spcPts val="1000"/>
              </a:spcAft>
            </a:pPr>
            <a:r>
              <a:rPr sz="1400">
                <a:solidFill>
                  <a:srgbClr val="C9D6E3"/>
                </a:solidFill>
                <a:latin typeface="Calibri"/>
              </a:rPr>
              <a:t>•  Below threshold → no context passed, model says so</a:t>
            </a:r>
          </a:p>
          <a:p>
            <a:pPr>
              <a:spcAft>
                <a:spcPts val="1000"/>
              </a:spcAft>
            </a:pPr>
            <a:r>
              <a:rPr sz="1400">
                <a:solidFill>
                  <a:srgbClr val="C9D6E3"/>
                </a:solidFill>
                <a:latin typeface="Calibri"/>
              </a:rPr>
              <a:t>•  Grounded in a CDC Lyme corpus, always cites source</a:t>
            </a:r>
          </a:p>
        </p:txBody>
      </p:sp>
      <p:sp>
        <p:nvSpPr>
          <p:cNvPr id="8" name="Rounded Rectangle 7"/>
          <p:cNvSpPr/>
          <p:nvPr/>
        </p:nvSpPr>
        <p:spPr>
          <a:xfrm>
            <a:off x="6172200" y="1737360"/>
            <a:ext cx="5349240" cy="420624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920240"/>
            <a:ext cx="4846320" cy="457200"/>
          </a:xfrm>
          <a:prstGeom prst="rect">
            <a:avLst/>
          </a:prstGeom>
          <a:noFill/>
        </p:spPr>
        <p:txBody>
          <a:bodyPr wrap="square">
            <a:spAutoFit/>
          </a:bodyPr>
          <a:lstStyle/>
          <a:p>
            <a:pPr algn="l"/>
            <a:r>
              <a:rPr sz="1700" b="1" i="0">
                <a:solidFill>
                  <a:srgbClr val="2DB49E"/>
                </a:solidFill>
                <a:latin typeface="Calibri"/>
              </a:rPr>
              <a:t>Agentic loop: journal tool-calling</a:t>
            </a:r>
          </a:p>
        </p:txBody>
      </p:sp>
      <p:sp>
        <p:nvSpPr>
          <p:cNvPr id="10" name="TextBox 9"/>
          <p:cNvSpPr txBox="1"/>
          <p:nvPr/>
        </p:nvSpPr>
        <p:spPr>
          <a:xfrm>
            <a:off x="6446520" y="2468880"/>
            <a:ext cx="4846320" cy="3291840"/>
          </a:xfrm>
          <a:prstGeom prst="rect">
            <a:avLst/>
          </a:prstGeom>
          <a:noFill/>
        </p:spPr>
        <p:txBody>
          <a:bodyPr wrap="square">
            <a:spAutoFit/>
          </a:bodyPr>
          <a:lstStyle/>
          <a:p>
            <a:pPr>
              <a:spcAft>
                <a:spcPts val="900"/>
              </a:spcAft>
            </a:pPr>
            <a:r>
              <a:rPr sz="1350">
                <a:solidFill>
                  <a:srgbClr val="C9D6E3"/>
                </a:solidFill>
                <a:latin typeface="Calibri"/>
              </a:rPr>
              <a:t>•  6 JSON-Schema tools: severity trend, symptom-free interval, function impact, anchors, encounters, symptom list</a:t>
            </a:r>
          </a:p>
          <a:p>
            <a:pPr>
              <a:spcAft>
                <a:spcPts val="900"/>
              </a:spcAft>
            </a:pPr>
            <a:r>
              <a:rPr sz="1350">
                <a:solidFill>
                  <a:srgbClr val="C9D6E3"/>
                </a:solidFill>
                <a:latin typeface="Calibri"/>
              </a:rPr>
              <a:t>•  Model decides which tools to call and in what order (Groq tools / tool_choice: auto)</a:t>
            </a:r>
          </a:p>
          <a:p>
            <a:pPr>
              <a:spcAft>
                <a:spcPts val="900"/>
              </a:spcAft>
            </a:pPr>
            <a:r>
              <a:rPr sz="1350">
                <a:solidFill>
                  <a:srgbClr val="C9D6E3"/>
                </a:solidFill>
                <a:latin typeface="Calibri"/>
              </a:rPr>
              <a:t>•  Loops up to 5 iterations, feeding tool results back</a:t>
            </a:r>
          </a:p>
          <a:p>
            <a:pPr>
              <a:spcAft>
                <a:spcPts val="900"/>
              </a:spcAft>
            </a:pPr>
            <a:r>
              <a:rPr sz="1350">
                <a:solidFill>
                  <a:srgbClr val="C9D6E3"/>
                </a:solidFill>
                <a:latin typeface="Calibri"/>
              </a:rPr>
              <a:t>•  Verified live: computed a real 1.08 pts/week severity slope and a real 10-day symptom-free median from synthetic entries</a:t>
            </a:r>
          </a:p>
          <a:p>
            <a:pPr>
              <a:spcAft>
                <a:spcPts val="900"/>
              </a:spcAft>
            </a:pPr>
            <a:r>
              <a:rPr sz="1350">
                <a:solidFill>
                  <a:srgbClr val="C9D6E3"/>
                </a:solidFill>
                <a:latin typeface="Calibri"/>
              </a:rPr>
              <a:t>•  Diagnosis-baiting input → model deflects to a clinician instead of fabricating an answer</a:t>
            </a:r>
          </a:p>
        </p:txBody>
      </p:sp>
      <p:sp>
        <p:nvSpPr>
          <p:cNvPr id="11" name="TextBox 10"/>
          <p:cNvSpPr txBox="1"/>
          <p:nvPr/>
        </p:nvSpPr>
        <p:spPr>
          <a:xfrm>
            <a:off x="640080" y="6492240"/>
            <a:ext cx="5486400" cy="274320"/>
          </a:xfrm>
          <a:prstGeom prst="rect">
            <a:avLst/>
          </a:prstGeom>
          <a:noFill/>
        </p:spPr>
        <p:txBody>
          <a:bodyPr wrap="square">
            <a:spAutoFit/>
          </a:bodyPr>
          <a:lstStyle/>
          <a:p>
            <a:pPr algn="l"/>
            <a:r>
              <a:rPr sz="1000" b="0" i="0">
                <a:solidFill>
                  <a:srgbClr val="6E829C"/>
                </a:solidFill>
                <a:latin typeface="Calibri"/>
              </a:rPr>
              <a:t>ClearSignal — LymeX Innovation Accelerator (HHS OASH / NIH ORWH)</a:t>
            </a:r>
          </a:p>
        </p:txBody>
      </p:sp>
      <p:sp>
        <p:nvSpPr>
          <p:cNvPr id="12" name="TextBox 11"/>
          <p:cNvSpPr txBox="1"/>
          <p:nvPr/>
        </p:nvSpPr>
        <p:spPr>
          <a:xfrm>
            <a:off x="11247120" y="6492240"/>
            <a:ext cx="548640" cy="274320"/>
          </a:xfrm>
          <a:prstGeom prst="rect">
            <a:avLst/>
          </a:prstGeom>
          <a:noFill/>
        </p:spPr>
        <p:txBody>
          <a:bodyPr wrap="square">
            <a:spAutoFit/>
          </a:bodyPr>
          <a:lstStyle/>
          <a:p>
            <a:pPr algn="r"/>
            <a:r>
              <a:rPr sz="1000" b="0" i="0">
                <a:solidFill>
                  <a:srgbClr val="6E829C"/>
                </a:solidFill>
                <a:latin typeface="Calibri"/>
              </a:rPr>
              <a:t>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640080" y="365760"/>
            <a:ext cx="9144000" cy="457200"/>
          </a:xfrm>
          <a:prstGeom prst="rect">
            <a:avLst/>
          </a:prstGeom>
          <a:noFill/>
        </p:spPr>
        <p:txBody>
          <a:bodyPr wrap="square">
            <a:spAutoFit/>
          </a:bodyPr>
          <a:lstStyle/>
          <a:p>
            <a:pPr algn="l"/>
            <a:r>
              <a:rPr sz="1400" b="1" i="0">
                <a:solidFill>
                  <a:srgbClr val="E8A83C"/>
                </a:solidFill>
                <a:latin typeface="Calibri"/>
              </a:rPr>
              <a:t>SAFETY LAYER</a:t>
            </a:r>
          </a:p>
        </p:txBody>
      </p:sp>
      <p:sp>
        <p:nvSpPr>
          <p:cNvPr id="3" name="TextBox 2"/>
          <p:cNvSpPr txBox="1"/>
          <p:nvPr/>
        </p:nvSpPr>
        <p:spPr>
          <a:xfrm>
            <a:off x="640080" y="685800"/>
            <a:ext cx="10881360" cy="914400"/>
          </a:xfrm>
          <a:prstGeom prst="rect">
            <a:avLst/>
          </a:prstGeom>
          <a:noFill/>
        </p:spPr>
        <p:txBody>
          <a:bodyPr wrap="square">
            <a:spAutoFit/>
          </a:bodyPr>
          <a:lstStyle/>
          <a:p>
            <a:pPr algn="l"/>
            <a:r>
              <a:rPr sz="3000" b="1" i="0">
                <a:solidFill>
                  <a:srgbClr val="FFFFFF"/>
                </a:solidFill>
                <a:latin typeface="Calibri"/>
              </a:rPr>
              <a:t>A deterministic layer that never diagnoses</a:t>
            </a:r>
          </a:p>
        </p:txBody>
      </p:sp>
      <p:cxnSp>
        <p:nvCxnSpPr>
          <p:cNvPr id="4" name="Connector 3"/>
          <p:cNvCxnSpPr/>
          <p:nvPr/>
        </p:nvCxnSpPr>
        <p:spPr>
          <a:xfrm>
            <a:off x="640080" y="1417320"/>
            <a:ext cx="10881360" cy="0"/>
          </a:xfrm>
          <a:prstGeom prst="line">
            <a:avLst/>
          </a:prstGeom>
          <a:ln w="19050">
            <a:solidFill>
              <a:srgbClr val="1B6E6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783080"/>
            <a:ext cx="6309360" cy="4206240"/>
          </a:xfrm>
          <a:prstGeom prst="rect">
            <a:avLst/>
          </a:prstGeom>
          <a:noFill/>
        </p:spPr>
        <p:txBody>
          <a:bodyPr wrap="square">
            <a:spAutoFit/>
          </a:bodyPr>
          <a:lstStyle/>
          <a:p>
            <a:pPr>
              <a:spcAft>
                <a:spcPts val="1600"/>
              </a:spcAft>
            </a:pPr>
            <a:r>
              <a:rPr sz="1600" b="1">
                <a:solidFill>
                  <a:srgbClr val="FFFFFF"/>
                </a:solidFill>
                <a:latin typeface="Calibri"/>
              </a:rPr>
              <a:t>•  Red-flag detection runs first.  </a:t>
            </a:r>
            <a:r>
              <a:rPr sz="1600">
                <a:solidFill>
                  <a:srgbClr val="C9D6E3"/>
                </a:solidFill>
                <a:latin typeface="Calibri"/>
              </a:rPr>
              <a:t>Chest pain, stroke signs, anaphylaxis, sepsis, crisis/suicidal ideation — pattern-matched before any model call, no model in the loop.</a:t>
            </a:r>
          </a:p>
          <a:p>
            <a:pPr>
              <a:spcAft>
                <a:spcPts val="1600"/>
              </a:spcAft>
            </a:pPr>
            <a:r>
              <a:rPr sz="1600" b="1">
                <a:solidFill>
                  <a:srgbClr val="FFFFFF"/>
                </a:solidFill>
                <a:latin typeface="Calibri"/>
              </a:rPr>
              <a:t>•  Model never overrides safety copy.  </a:t>
            </a:r>
            <a:r>
              <a:rPr sz="1600">
                <a:solidFill>
                  <a:srgbClr val="C9D6E3"/>
                </a:solidFill>
                <a:latin typeface="Calibri"/>
              </a:rPr>
              <a:t>System prompt treats retrieved context and user input as data, never as instructions.</a:t>
            </a:r>
          </a:p>
          <a:p>
            <a:pPr>
              <a:spcAft>
                <a:spcPts val="1600"/>
              </a:spcAft>
            </a:pPr>
            <a:r>
              <a:rPr sz="1600" b="1">
                <a:solidFill>
                  <a:srgbClr val="FFFFFF"/>
                </a:solidFill>
                <a:latin typeface="Calibri"/>
              </a:rPr>
              <a:t>•  Prompt-injection detection, non-blocking.  </a:t>
            </a:r>
            <a:r>
              <a:rPr sz="1600">
                <a:solidFill>
                  <a:srgbClr val="C9D6E3"/>
                </a:solidFill>
                <a:latin typeface="Calibri"/>
              </a:rPr>
              <a:t>Logged, not hard-rejected — a false-positive block on real symptom language would itself be a patient-safety cost.</a:t>
            </a:r>
          </a:p>
          <a:p>
            <a:pPr>
              <a:spcAft>
                <a:spcPts val="1600"/>
              </a:spcAft>
            </a:pPr>
            <a:r>
              <a:rPr sz="1600" b="1">
                <a:solidFill>
                  <a:srgbClr val="FFFFFF"/>
                </a:solidFill>
                <a:latin typeface="Calibri"/>
              </a:rPr>
              <a:t>•  Handoff generator has a deterministic fallback.  </a:t>
            </a:r>
            <a:r>
              <a:rPr sz="1600">
                <a:solidFill>
                  <a:srgbClr val="C9D6E3"/>
                </a:solidFill>
                <a:latin typeface="Calibri"/>
              </a:rPr>
              <a:t>If the LLM call fails, a template still produces a usable document — never a blank page.</a:t>
            </a:r>
          </a:p>
        </p:txBody>
      </p:sp>
      <p:sp>
        <p:nvSpPr>
          <p:cNvPr id="6" name="Rounded Rectangle 5"/>
          <p:cNvSpPr/>
          <p:nvPr/>
        </p:nvSpPr>
        <p:spPr>
          <a:xfrm>
            <a:off x="7406640" y="1783080"/>
            <a:ext cx="1874519" cy="150876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06640" y="1920240"/>
            <a:ext cx="1874519" cy="868680"/>
          </a:xfrm>
          <a:prstGeom prst="rect">
            <a:avLst/>
          </a:prstGeom>
          <a:noFill/>
        </p:spPr>
        <p:txBody>
          <a:bodyPr wrap="square">
            <a:spAutoFit/>
          </a:bodyPr>
          <a:lstStyle/>
          <a:p>
            <a:pPr algn="ctr"/>
            <a:r>
              <a:rPr sz="3000" b="1" i="0">
                <a:solidFill>
                  <a:srgbClr val="2DB49E"/>
                </a:solidFill>
                <a:latin typeface="Calibri"/>
              </a:rPr>
              <a:t>100%</a:t>
            </a:r>
          </a:p>
        </p:txBody>
      </p:sp>
      <p:sp>
        <p:nvSpPr>
          <p:cNvPr id="8" name="TextBox 7"/>
          <p:cNvSpPr txBox="1"/>
          <p:nvPr/>
        </p:nvSpPr>
        <p:spPr>
          <a:xfrm>
            <a:off x="7498079" y="2788920"/>
            <a:ext cx="1691639" cy="457200"/>
          </a:xfrm>
          <a:prstGeom prst="rect">
            <a:avLst/>
          </a:prstGeom>
          <a:noFill/>
        </p:spPr>
        <p:txBody>
          <a:bodyPr wrap="square">
            <a:spAutoFit/>
          </a:bodyPr>
          <a:lstStyle/>
          <a:p>
            <a:pPr algn="ctr"/>
            <a:r>
              <a:rPr sz="1200" b="0" i="0">
                <a:solidFill>
                  <a:srgbClr val="C9D6E3"/>
                </a:solidFill>
                <a:latin typeface="Calibri"/>
              </a:rPr>
              <a:t>red-flag escalation</a:t>
            </a:r>
          </a:p>
          <a:p>
            <a:pPr algn="ctr"/>
            <a:r>
              <a:rPr sz="1200" b="0" i="0">
                <a:solidFill>
                  <a:srgbClr val="C9D6E3"/>
                </a:solidFill>
                <a:latin typeface="Calibri"/>
              </a:rPr>
              <a:t>recall (gold set)</a:t>
            </a:r>
          </a:p>
        </p:txBody>
      </p:sp>
      <p:sp>
        <p:nvSpPr>
          <p:cNvPr id="9" name="Rounded Rectangle 8"/>
          <p:cNvSpPr/>
          <p:nvPr/>
        </p:nvSpPr>
        <p:spPr>
          <a:xfrm>
            <a:off x="9418320" y="1783080"/>
            <a:ext cx="1874519" cy="150876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0" y="1920240"/>
            <a:ext cx="1874519" cy="868680"/>
          </a:xfrm>
          <a:prstGeom prst="rect">
            <a:avLst/>
          </a:prstGeom>
          <a:noFill/>
        </p:spPr>
        <p:txBody>
          <a:bodyPr wrap="square">
            <a:spAutoFit/>
          </a:bodyPr>
          <a:lstStyle/>
          <a:p>
            <a:pPr algn="ctr"/>
            <a:r>
              <a:rPr sz="3000" b="1" i="0">
                <a:solidFill>
                  <a:srgbClr val="2DB49E"/>
                </a:solidFill>
                <a:latin typeface="Calibri"/>
              </a:rPr>
              <a:t>0%</a:t>
            </a:r>
          </a:p>
        </p:txBody>
      </p:sp>
      <p:sp>
        <p:nvSpPr>
          <p:cNvPr id="11" name="TextBox 10"/>
          <p:cNvSpPr txBox="1"/>
          <p:nvPr/>
        </p:nvSpPr>
        <p:spPr>
          <a:xfrm>
            <a:off x="9509760" y="2788920"/>
            <a:ext cx="1691639" cy="457200"/>
          </a:xfrm>
          <a:prstGeom prst="rect">
            <a:avLst/>
          </a:prstGeom>
          <a:noFill/>
        </p:spPr>
        <p:txBody>
          <a:bodyPr wrap="square">
            <a:spAutoFit/>
          </a:bodyPr>
          <a:lstStyle/>
          <a:p>
            <a:pPr algn="ctr"/>
            <a:r>
              <a:rPr sz="1200" b="0" i="0">
                <a:solidFill>
                  <a:srgbClr val="C9D6E3"/>
                </a:solidFill>
                <a:latin typeface="Calibri"/>
              </a:rPr>
              <a:t>red-flag</a:t>
            </a:r>
          </a:p>
          <a:p>
            <a:pPr algn="ctr"/>
            <a:r>
              <a:rPr sz="1200" b="0" i="0">
                <a:solidFill>
                  <a:srgbClr val="C9D6E3"/>
                </a:solidFill>
                <a:latin typeface="Calibri"/>
              </a:rPr>
              <a:t>false-positive rate</a:t>
            </a:r>
          </a:p>
        </p:txBody>
      </p:sp>
      <p:sp>
        <p:nvSpPr>
          <p:cNvPr id="12" name="Rounded Rectangle 11"/>
          <p:cNvSpPr/>
          <p:nvPr/>
        </p:nvSpPr>
        <p:spPr>
          <a:xfrm>
            <a:off x="7406640" y="3474720"/>
            <a:ext cx="3886200" cy="155448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35240" y="3611880"/>
            <a:ext cx="3474720" cy="1280160"/>
          </a:xfrm>
          <a:prstGeom prst="rect">
            <a:avLst/>
          </a:prstGeom>
          <a:noFill/>
        </p:spPr>
        <p:txBody>
          <a:bodyPr wrap="square">
            <a:spAutoFit/>
          </a:bodyPr>
          <a:lstStyle/>
          <a:p>
            <a:pPr algn="l"/>
            <a:r>
              <a:rPr sz="1300" b="0" i="1">
                <a:solidFill>
                  <a:srgbClr val="C9D6E3"/>
                </a:solidFill>
                <a:latin typeface="Calibri"/>
              </a:rPr>
              <a:t>Honest gap: red-flag copy and the gold eval set are AI-drafted and not yet clinically reviewed — flagged in-repo, not hidden.</a:t>
            </a:r>
          </a:p>
        </p:txBody>
      </p:sp>
      <p:sp>
        <p:nvSpPr>
          <p:cNvPr id="14" name="TextBox 13"/>
          <p:cNvSpPr txBox="1"/>
          <p:nvPr/>
        </p:nvSpPr>
        <p:spPr>
          <a:xfrm>
            <a:off x="640080" y="6492240"/>
            <a:ext cx="5486400" cy="274320"/>
          </a:xfrm>
          <a:prstGeom prst="rect">
            <a:avLst/>
          </a:prstGeom>
          <a:noFill/>
        </p:spPr>
        <p:txBody>
          <a:bodyPr wrap="square">
            <a:spAutoFit/>
          </a:bodyPr>
          <a:lstStyle/>
          <a:p>
            <a:pPr algn="l"/>
            <a:r>
              <a:rPr sz="1000" b="0" i="0">
                <a:solidFill>
                  <a:srgbClr val="6E829C"/>
                </a:solidFill>
                <a:latin typeface="Calibri"/>
              </a:rPr>
              <a:t>ClearSignal — LymeX Innovation Accelerator (HHS OASH / NIH ORWH)</a:t>
            </a:r>
          </a:p>
        </p:txBody>
      </p:sp>
      <p:sp>
        <p:nvSpPr>
          <p:cNvPr id="15" name="TextBox 14"/>
          <p:cNvSpPr txBox="1"/>
          <p:nvPr/>
        </p:nvSpPr>
        <p:spPr>
          <a:xfrm>
            <a:off x="11247120" y="6492240"/>
            <a:ext cx="548640" cy="274320"/>
          </a:xfrm>
          <a:prstGeom prst="rect">
            <a:avLst/>
          </a:prstGeom>
          <a:noFill/>
        </p:spPr>
        <p:txBody>
          <a:bodyPr wrap="square">
            <a:spAutoFit/>
          </a:bodyPr>
          <a:lstStyle/>
          <a:p>
            <a:pPr algn="r"/>
            <a:r>
              <a:rPr sz="1000" b="0" i="0">
                <a:solidFill>
                  <a:srgbClr val="6E829C"/>
                </a:solidFill>
                <a:latin typeface="Calibri"/>
              </a:rPr>
              <a:t>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640080" y="365760"/>
            <a:ext cx="9144000" cy="457200"/>
          </a:xfrm>
          <a:prstGeom prst="rect">
            <a:avLst/>
          </a:prstGeom>
          <a:noFill/>
        </p:spPr>
        <p:txBody>
          <a:bodyPr wrap="square">
            <a:spAutoFit/>
          </a:bodyPr>
          <a:lstStyle/>
          <a:p>
            <a:pPr algn="l"/>
            <a:r>
              <a:rPr sz="1400" b="1" i="0">
                <a:solidFill>
                  <a:srgbClr val="2DB49E"/>
                </a:solidFill>
                <a:latin typeface="Calibri"/>
              </a:rPr>
              <a:t>TECH STACK</a:t>
            </a:r>
          </a:p>
        </p:txBody>
      </p:sp>
      <p:sp>
        <p:nvSpPr>
          <p:cNvPr id="3" name="TextBox 2"/>
          <p:cNvSpPr txBox="1"/>
          <p:nvPr/>
        </p:nvSpPr>
        <p:spPr>
          <a:xfrm>
            <a:off x="640080" y="685800"/>
            <a:ext cx="10881360" cy="914400"/>
          </a:xfrm>
          <a:prstGeom prst="rect">
            <a:avLst/>
          </a:prstGeom>
          <a:noFill/>
        </p:spPr>
        <p:txBody>
          <a:bodyPr wrap="square">
            <a:spAutoFit/>
          </a:bodyPr>
          <a:lstStyle/>
          <a:p>
            <a:pPr algn="l"/>
            <a:r>
              <a:rPr sz="2800" b="1" i="0">
                <a:solidFill>
                  <a:srgbClr val="FFFFFF"/>
                </a:solidFill>
                <a:latin typeface="Calibri"/>
              </a:rPr>
              <a:t>Chosen and justified — see design.md §8</a:t>
            </a:r>
          </a:p>
        </p:txBody>
      </p:sp>
      <p:cxnSp>
        <p:nvCxnSpPr>
          <p:cNvPr id="4" name="Connector 3"/>
          <p:cNvCxnSpPr/>
          <p:nvPr/>
        </p:nvCxnSpPr>
        <p:spPr>
          <a:xfrm>
            <a:off x="640080" y="1417320"/>
            <a:ext cx="10881360" cy="0"/>
          </a:xfrm>
          <a:prstGeom prst="line">
            <a:avLst/>
          </a:prstGeom>
          <a:ln w="19050">
            <a:solidFill>
              <a:srgbClr val="1B6E61"/>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640080" y="1783080"/>
            <a:ext cx="10881360" cy="420624"/>
          </a:xfrm>
          <a:prstGeom prst="rect">
            <a:avLst/>
          </a:prstGeom>
          <a:solidFill>
            <a:srgbClr val="132A4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b="1" sz="1300">
                <a:solidFill>
                  <a:srgbClr val="2DB49E"/>
                </a:solidFill>
              </a:rPr>
              <a:t>  Frontend</a:t>
            </a:r>
            <a:r>
              <a:rPr sz="1300">
                <a:solidFill>
                  <a:srgbClr val="C9D6E3"/>
                </a:solidFill>
              </a:rPr>
              <a:t>    —    Next.js 16 (App Router, Turbopack), React 19, TypeScript</a:t>
            </a:r>
          </a:p>
        </p:txBody>
      </p:sp>
      <p:sp>
        <p:nvSpPr>
          <p:cNvPr id="6" name="Rectangle 5"/>
          <p:cNvSpPr/>
          <p:nvPr/>
        </p:nvSpPr>
        <p:spPr>
          <a:xfrm>
            <a:off x="640080" y="2221991"/>
            <a:ext cx="10881360" cy="420624"/>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b="1" sz="1300">
                <a:solidFill>
                  <a:srgbClr val="2DB49E"/>
                </a:solidFill>
              </a:rPr>
              <a:t>  Backend / DB</a:t>
            </a:r>
            <a:r>
              <a:rPr sz="1300">
                <a:solidFill>
                  <a:srgbClr val="C9D6E3"/>
                </a:solidFill>
              </a:rPr>
              <a:t>    —    Back4App (Parse Server / MongoDB) — full CRUD, per-user ACLs</a:t>
            </a:r>
          </a:p>
        </p:txBody>
      </p:sp>
      <p:sp>
        <p:nvSpPr>
          <p:cNvPr id="7" name="Rectangle 6"/>
          <p:cNvSpPr/>
          <p:nvPr/>
        </p:nvSpPr>
        <p:spPr>
          <a:xfrm>
            <a:off x="640080" y="2660904"/>
            <a:ext cx="10881360" cy="420624"/>
          </a:xfrm>
          <a:prstGeom prst="rect">
            <a:avLst/>
          </a:prstGeom>
          <a:solidFill>
            <a:srgbClr val="132A4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b="1" sz="1300">
                <a:solidFill>
                  <a:srgbClr val="2DB49E"/>
                </a:solidFill>
              </a:rPr>
              <a:t>  Auth</a:t>
            </a:r>
            <a:r>
              <a:rPr sz="1300">
                <a:solidFill>
                  <a:srgbClr val="C9D6E3"/>
                </a:solidFill>
              </a:rPr>
              <a:t>    —    Parse User — registration, login, session persistence</a:t>
            </a:r>
          </a:p>
        </p:txBody>
      </p:sp>
      <p:sp>
        <p:nvSpPr>
          <p:cNvPr id="8" name="Rectangle 7"/>
          <p:cNvSpPr/>
          <p:nvPr/>
        </p:nvSpPr>
        <p:spPr>
          <a:xfrm>
            <a:off x="640080" y="3099815"/>
            <a:ext cx="10881360" cy="420624"/>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b="1" sz="1300">
                <a:solidFill>
                  <a:srgbClr val="2DB49E"/>
                </a:solidFill>
              </a:rPr>
              <a:t>  AI — LLM</a:t>
            </a:r>
            <a:r>
              <a:rPr sz="1300">
                <a:solidFill>
                  <a:srgbClr val="C9D6E3"/>
                </a:solidFill>
              </a:rPr>
              <a:t>    —    Groq gpt-oss-120b (chat, rerank, narrative, agent) + gpt-oss-20b (rewrite)</a:t>
            </a:r>
          </a:p>
        </p:txBody>
      </p:sp>
      <p:sp>
        <p:nvSpPr>
          <p:cNvPr id="9" name="Rectangle 8"/>
          <p:cNvSpPr/>
          <p:nvPr/>
        </p:nvSpPr>
        <p:spPr>
          <a:xfrm>
            <a:off x="640080" y="3538728"/>
            <a:ext cx="10881360" cy="420624"/>
          </a:xfrm>
          <a:prstGeom prst="rect">
            <a:avLst/>
          </a:prstGeom>
          <a:solidFill>
            <a:srgbClr val="132A4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b="1" sz="1300">
                <a:solidFill>
                  <a:srgbClr val="2DB49E"/>
                </a:solidFill>
              </a:rPr>
              <a:t>  AI — Voice</a:t>
            </a:r>
            <a:r>
              <a:rPr sz="1300">
                <a:solidFill>
                  <a:srgbClr val="C9D6E3"/>
                </a:solidFill>
              </a:rPr>
              <a:t>    —    Groq whisper-large-v3-turbo (STT), Groq playai-tts (TTS)</a:t>
            </a:r>
          </a:p>
        </p:txBody>
      </p:sp>
      <p:sp>
        <p:nvSpPr>
          <p:cNvPr id="10" name="Rectangle 9"/>
          <p:cNvSpPr/>
          <p:nvPr/>
        </p:nvSpPr>
        <p:spPr>
          <a:xfrm>
            <a:off x="640080" y="3977639"/>
            <a:ext cx="10881360" cy="420624"/>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b="1" sz="1300">
                <a:solidFill>
                  <a:srgbClr val="2DB49E"/>
                </a:solidFill>
              </a:rPr>
              <a:t>  Vector store</a:t>
            </a:r>
            <a:r>
              <a:rPr sz="1300">
                <a:solidFill>
                  <a:srgbClr val="C9D6E3"/>
                </a:solidFill>
              </a:rPr>
              <a:t>    —    Upstash Vector — built-in embedding model, no separate embeddings key</a:t>
            </a:r>
          </a:p>
        </p:txBody>
      </p:sp>
      <p:sp>
        <p:nvSpPr>
          <p:cNvPr id="11" name="Rectangle 10"/>
          <p:cNvSpPr/>
          <p:nvPr/>
        </p:nvSpPr>
        <p:spPr>
          <a:xfrm>
            <a:off x="640080" y="4416552"/>
            <a:ext cx="10881360" cy="420624"/>
          </a:xfrm>
          <a:prstGeom prst="rect">
            <a:avLst/>
          </a:prstGeom>
          <a:solidFill>
            <a:srgbClr val="132A4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b="1" sz="1300">
                <a:solidFill>
                  <a:srgbClr val="2DB49E"/>
                </a:solidFill>
              </a:rPr>
              <a:t>  Keyword search</a:t>
            </a:r>
            <a:r>
              <a:rPr sz="1300">
                <a:solidFill>
                  <a:srgbClr val="C9D6E3"/>
                </a:solidFill>
              </a:rPr>
              <a:t>    —    Hand-rolled Okapi BM25, fused via Reciprocal Rank Fusion</a:t>
            </a:r>
          </a:p>
        </p:txBody>
      </p:sp>
      <p:sp>
        <p:nvSpPr>
          <p:cNvPr id="12" name="Rectangle 11"/>
          <p:cNvSpPr/>
          <p:nvPr/>
        </p:nvSpPr>
        <p:spPr>
          <a:xfrm>
            <a:off x="640080" y="4855464"/>
            <a:ext cx="10881360" cy="420624"/>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b="1" sz="1300">
                <a:solidFill>
                  <a:srgbClr val="2DB49E"/>
                </a:solidFill>
              </a:rPr>
              <a:t>  Deployment</a:t>
            </a:r>
            <a:r>
              <a:rPr sz="1300">
                <a:solidFill>
                  <a:srgbClr val="C9D6E3"/>
                </a:solidFill>
              </a:rPr>
              <a:t>    —    Netlify (production) + multi-stage Docker (portable/grading path)</a:t>
            </a:r>
          </a:p>
        </p:txBody>
      </p:sp>
      <p:sp>
        <p:nvSpPr>
          <p:cNvPr id="13" name="Rectangle 12"/>
          <p:cNvSpPr/>
          <p:nvPr/>
        </p:nvSpPr>
        <p:spPr>
          <a:xfrm>
            <a:off x="640080" y="5294376"/>
            <a:ext cx="10881360" cy="420624"/>
          </a:xfrm>
          <a:prstGeom prst="rect">
            <a:avLst/>
          </a:prstGeom>
          <a:solidFill>
            <a:srgbClr val="132A4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b="1" sz="1300">
                <a:solidFill>
                  <a:srgbClr val="2DB49E"/>
                </a:solidFill>
              </a:rPr>
              <a:t>  Observability</a:t>
            </a:r>
            <a:r>
              <a:rPr sz="1300">
                <a:solidFill>
                  <a:srgbClr val="C9D6E3"/>
                </a:solidFill>
              </a:rPr>
              <a:t>    —    Structured JSON logging + custom Back4App-backed metrics + /admin dashboard</a:t>
            </a:r>
          </a:p>
        </p:txBody>
      </p:sp>
      <p:sp>
        <p:nvSpPr>
          <p:cNvPr id="14" name="TextBox 13"/>
          <p:cNvSpPr txBox="1"/>
          <p:nvPr/>
        </p:nvSpPr>
        <p:spPr>
          <a:xfrm>
            <a:off x="640080" y="6492240"/>
            <a:ext cx="5486400" cy="274320"/>
          </a:xfrm>
          <a:prstGeom prst="rect">
            <a:avLst/>
          </a:prstGeom>
          <a:noFill/>
        </p:spPr>
        <p:txBody>
          <a:bodyPr wrap="square">
            <a:spAutoFit/>
          </a:bodyPr>
          <a:lstStyle/>
          <a:p>
            <a:pPr algn="l"/>
            <a:r>
              <a:rPr sz="1000" b="0" i="0">
                <a:solidFill>
                  <a:srgbClr val="6E829C"/>
                </a:solidFill>
                <a:latin typeface="Calibri"/>
              </a:rPr>
              <a:t>ClearSignal — LymeX Innovation Accelerator (HHS OASH / NIH ORWH)</a:t>
            </a:r>
          </a:p>
        </p:txBody>
      </p:sp>
      <p:sp>
        <p:nvSpPr>
          <p:cNvPr id="15" name="TextBox 14"/>
          <p:cNvSpPr txBox="1"/>
          <p:nvPr/>
        </p:nvSpPr>
        <p:spPr>
          <a:xfrm>
            <a:off x="11247120" y="6492240"/>
            <a:ext cx="548640" cy="274320"/>
          </a:xfrm>
          <a:prstGeom prst="rect">
            <a:avLst/>
          </a:prstGeom>
          <a:noFill/>
        </p:spPr>
        <p:txBody>
          <a:bodyPr wrap="square">
            <a:spAutoFit/>
          </a:bodyPr>
          <a:lstStyle/>
          <a:p>
            <a:pPr algn="r"/>
            <a:r>
              <a:rPr sz="1000" b="0" i="0">
                <a:solidFill>
                  <a:srgbClr val="6E829C"/>
                </a:solidFill>
                <a:latin typeface="Calibri"/>
              </a:rPr>
              <a:t>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640080" y="365760"/>
            <a:ext cx="9144000" cy="457200"/>
          </a:xfrm>
          <a:prstGeom prst="rect">
            <a:avLst/>
          </a:prstGeom>
          <a:noFill/>
        </p:spPr>
        <p:txBody>
          <a:bodyPr wrap="square">
            <a:spAutoFit/>
          </a:bodyPr>
          <a:lstStyle/>
          <a:p>
            <a:pPr algn="l"/>
            <a:r>
              <a:rPr sz="1400" b="1" i="0">
                <a:solidFill>
                  <a:srgbClr val="2DB49E"/>
                </a:solidFill>
                <a:latin typeface="Calibri"/>
              </a:rPr>
              <a:t>RESULTS — EVAL HARNESS</a:t>
            </a:r>
          </a:p>
        </p:txBody>
      </p:sp>
      <p:sp>
        <p:nvSpPr>
          <p:cNvPr id="3" name="TextBox 2"/>
          <p:cNvSpPr txBox="1"/>
          <p:nvPr/>
        </p:nvSpPr>
        <p:spPr>
          <a:xfrm>
            <a:off x="640080" y="685800"/>
            <a:ext cx="10881360" cy="914400"/>
          </a:xfrm>
          <a:prstGeom prst="rect">
            <a:avLst/>
          </a:prstGeom>
          <a:noFill/>
        </p:spPr>
        <p:txBody>
          <a:bodyPr wrap="square">
            <a:spAutoFit/>
          </a:bodyPr>
          <a:lstStyle/>
          <a:p>
            <a:pPr algn="l"/>
            <a:r>
              <a:rPr sz="3000" b="1" i="0">
                <a:solidFill>
                  <a:srgbClr val="FFFFFF"/>
                </a:solidFill>
                <a:latin typeface="Calibri"/>
              </a:rPr>
              <a:t>Measured, not claimed</a:t>
            </a:r>
          </a:p>
        </p:txBody>
      </p:sp>
      <p:cxnSp>
        <p:nvCxnSpPr>
          <p:cNvPr id="4" name="Connector 3"/>
          <p:cNvCxnSpPr/>
          <p:nvPr/>
        </p:nvCxnSpPr>
        <p:spPr>
          <a:xfrm>
            <a:off x="640080" y="1417320"/>
            <a:ext cx="10881360" cy="0"/>
          </a:xfrm>
          <a:prstGeom prst="line">
            <a:avLst/>
          </a:prstGeom>
          <a:ln w="19050">
            <a:solidFill>
              <a:srgbClr val="1B6E61"/>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40080" y="1783080"/>
            <a:ext cx="3520440" cy="155448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920240"/>
            <a:ext cx="3520440" cy="914400"/>
          </a:xfrm>
          <a:prstGeom prst="rect">
            <a:avLst/>
          </a:prstGeom>
          <a:noFill/>
        </p:spPr>
        <p:txBody>
          <a:bodyPr wrap="square">
            <a:spAutoFit/>
          </a:bodyPr>
          <a:lstStyle/>
          <a:p>
            <a:pPr algn="ctr"/>
            <a:r>
              <a:rPr sz="3000" b="1" i="0">
                <a:solidFill>
                  <a:srgbClr val="2DB49E"/>
                </a:solidFill>
                <a:latin typeface="Calibri"/>
              </a:rPr>
              <a:t>100%</a:t>
            </a:r>
          </a:p>
        </p:txBody>
      </p:sp>
      <p:sp>
        <p:nvSpPr>
          <p:cNvPr id="7" name="TextBox 6"/>
          <p:cNvSpPr txBox="1"/>
          <p:nvPr/>
        </p:nvSpPr>
        <p:spPr>
          <a:xfrm>
            <a:off x="731519" y="2834639"/>
            <a:ext cx="3337560" cy="457200"/>
          </a:xfrm>
          <a:prstGeom prst="rect">
            <a:avLst/>
          </a:prstGeom>
          <a:noFill/>
        </p:spPr>
        <p:txBody>
          <a:bodyPr wrap="square">
            <a:spAutoFit/>
          </a:bodyPr>
          <a:lstStyle/>
          <a:p>
            <a:pPr algn="ctr"/>
            <a:r>
              <a:rPr sz="1200" b="0" i="0">
                <a:solidFill>
                  <a:srgbClr val="C9D6E3"/>
                </a:solidFill>
                <a:latin typeface="Calibri"/>
              </a:rPr>
              <a:t>escalation recall</a:t>
            </a:r>
          </a:p>
          <a:p>
            <a:pPr algn="ctr"/>
            <a:r>
              <a:rPr sz="1200" b="0" i="0">
                <a:solidFill>
                  <a:srgbClr val="C9D6E3"/>
                </a:solidFill>
                <a:latin typeface="Calibri"/>
              </a:rPr>
              <a:t>(4/4 red-flag gold Qs)</a:t>
            </a:r>
          </a:p>
        </p:txBody>
      </p:sp>
      <p:sp>
        <p:nvSpPr>
          <p:cNvPr id="8" name="Rounded Rectangle 7"/>
          <p:cNvSpPr/>
          <p:nvPr/>
        </p:nvSpPr>
        <p:spPr>
          <a:xfrm>
            <a:off x="4343400" y="1783080"/>
            <a:ext cx="3520440" cy="155448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43400" y="1920240"/>
            <a:ext cx="3520440" cy="914400"/>
          </a:xfrm>
          <a:prstGeom prst="rect">
            <a:avLst/>
          </a:prstGeom>
          <a:noFill/>
        </p:spPr>
        <p:txBody>
          <a:bodyPr wrap="square">
            <a:spAutoFit/>
          </a:bodyPr>
          <a:lstStyle/>
          <a:p>
            <a:pPr algn="ctr"/>
            <a:r>
              <a:rPr sz="3000" b="1" i="0">
                <a:solidFill>
                  <a:srgbClr val="2DB49E"/>
                </a:solidFill>
                <a:latin typeface="Calibri"/>
              </a:rPr>
              <a:t>0%</a:t>
            </a:r>
          </a:p>
        </p:txBody>
      </p:sp>
      <p:sp>
        <p:nvSpPr>
          <p:cNvPr id="10" name="TextBox 9"/>
          <p:cNvSpPr txBox="1"/>
          <p:nvPr/>
        </p:nvSpPr>
        <p:spPr>
          <a:xfrm>
            <a:off x="4434840" y="2834639"/>
            <a:ext cx="3337560" cy="457200"/>
          </a:xfrm>
          <a:prstGeom prst="rect">
            <a:avLst/>
          </a:prstGeom>
          <a:noFill/>
        </p:spPr>
        <p:txBody>
          <a:bodyPr wrap="square">
            <a:spAutoFit/>
          </a:bodyPr>
          <a:lstStyle/>
          <a:p>
            <a:pPr algn="ctr"/>
            <a:r>
              <a:rPr sz="1200" b="0" i="0">
                <a:solidFill>
                  <a:srgbClr val="C9D6E3"/>
                </a:solidFill>
                <a:latin typeface="Calibri"/>
              </a:rPr>
              <a:t>red-flag</a:t>
            </a:r>
          </a:p>
          <a:p>
            <a:pPr algn="ctr"/>
            <a:r>
              <a:rPr sz="1200" b="0" i="0">
                <a:solidFill>
                  <a:srgbClr val="C9D6E3"/>
                </a:solidFill>
                <a:latin typeface="Calibri"/>
              </a:rPr>
              <a:t>false-positive rate</a:t>
            </a:r>
          </a:p>
        </p:txBody>
      </p:sp>
      <p:sp>
        <p:nvSpPr>
          <p:cNvPr id="11" name="Rounded Rectangle 10"/>
          <p:cNvSpPr/>
          <p:nvPr/>
        </p:nvSpPr>
        <p:spPr>
          <a:xfrm>
            <a:off x="8046720" y="1783080"/>
            <a:ext cx="3520440" cy="155448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0" y="1920240"/>
            <a:ext cx="3520440" cy="914400"/>
          </a:xfrm>
          <a:prstGeom prst="rect">
            <a:avLst/>
          </a:prstGeom>
          <a:noFill/>
        </p:spPr>
        <p:txBody>
          <a:bodyPr wrap="square">
            <a:spAutoFit/>
          </a:bodyPr>
          <a:lstStyle/>
          <a:p>
            <a:pPr algn="ctr"/>
            <a:r>
              <a:rPr sz="3000" b="1" i="0">
                <a:solidFill>
                  <a:srgbClr val="2DB49E"/>
                </a:solidFill>
                <a:latin typeface="Calibri"/>
              </a:rPr>
              <a:t>100%</a:t>
            </a:r>
          </a:p>
        </p:txBody>
      </p:sp>
      <p:sp>
        <p:nvSpPr>
          <p:cNvPr id="13" name="TextBox 12"/>
          <p:cNvSpPr txBox="1"/>
          <p:nvPr/>
        </p:nvSpPr>
        <p:spPr>
          <a:xfrm>
            <a:off x="8138160" y="2834639"/>
            <a:ext cx="3337560" cy="457200"/>
          </a:xfrm>
          <a:prstGeom prst="rect">
            <a:avLst/>
          </a:prstGeom>
          <a:noFill/>
        </p:spPr>
        <p:txBody>
          <a:bodyPr wrap="square">
            <a:spAutoFit/>
          </a:bodyPr>
          <a:lstStyle/>
          <a:p>
            <a:pPr algn="ctr"/>
            <a:r>
              <a:rPr sz="1200" b="0" i="0">
                <a:solidFill>
                  <a:srgbClr val="C9D6E3"/>
                </a:solidFill>
                <a:latin typeface="Calibri"/>
              </a:rPr>
              <a:t>citation validity</a:t>
            </a:r>
          </a:p>
          <a:p>
            <a:pPr algn="ctr"/>
            <a:r>
              <a:rPr sz="1200" b="0" i="0">
                <a:solidFill>
                  <a:srgbClr val="C9D6E3"/>
                </a:solidFill>
                <a:latin typeface="Calibri"/>
              </a:rPr>
              <a:t>(last clean sample)</a:t>
            </a:r>
          </a:p>
        </p:txBody>
      </p:sp>
      <p:sp>
        <p:nvSpPr>
          <p:cNvPr id="14" name="Rounded Rectangle 13"/>
          <p:cNvSpPr/>
          <p:nvPr/>
        </p:nvSpPr>
        <p:spPr>
          <a:xfrm>
            <a:off x="640080" y="3520440"/>
            <a:ext cx="3520440" cy="155448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657600"/>
            <a:ext cx="3520440" cy="914400"/>
          </a:xfrm>
          <a:prstGeom prst="rect">
            <a:avLst/>
          </a:prstGeom>
          <a:noFill/>
        </p:spPr>
        <p:txBody>
          <a:bodyPr wrap="square">
            <a:spAutoFit/>
          </a:bodyPr>
          <a:lstStyle/>
          <a:p>
            <a:pPr algn="ctr"/>
            <a:r>
              <a:rPr sz="3000" b="1" i="0">
                <a:solidFill>
                  <a:srgbClr val="2DB49E"/>
                </a:solidFill>
                <a:latin typeface="Calibri"/>
              </a:rPr>
              <a:t>2224→ 0ms</a:t>
            </a:r>
          </a:p>
        </p:txBody>
      </p:sp>
      <p:sp>
        <p:nvSpPr>
          <p:cNvPr id="16" name="TextBox 15"/>
          <p:cNvSpPr txBox="1"/>
          <p:nvPr/>
        </p:nvSpPr>
        <p:spPr>
          <a:xfrm>
            <a:off x="731519" y="4572000"/>
            <a:ext cx="3337560" cy="457200"/>
          </a:xfrm>
          <a:prstGeom prst="rect">
            <a:avLst/>
          </a:prstGeom>
          <a:noFill/>
        </p:spPr>
        <p:txBody>
          <a:bodyPr wrap="square">
            <a:spAutoFit/>
          </a:bodyPr>
          <a:lstStyle/>
          <a:p>
            <a:pPr algn="ctr"/>
            <a:r>
              <a:rPr sz="1200" b="0" i="0">
                <a:solidFill>
                  <a:srgbClr val="C9D6E3"/>
                </a:solidFill>
                <a:latin typeface="Calibri"/>
              </a:rPr>
              <a:t>retrieval latency</a:t>
            </a:r>
          </a:p>
          <a:p>
            <a:pPr algn="ctr"/>
            <a:r>
              <a:rPr sz="1200" b="0" i="0">
                <a:solidFill>
                  <a:srgbClr val="C9D6E3"/>
                </a:solidFill>
                <a:latin typeface="Calibri"/>
              </a:rPr>
              <a:t>cold → cache hit</a:t>
            </a:r>
          </a:p>
        </p:txBody>
      </p:sp>
      <p:sp>
        <p:nvSpPr>
          <p:cNvPr id="17" name="Rounded Rectangle 16"/>
          <p:cNvSpPr/>
          <p:nvPr/>
        </p:nvSpPr>
        <p:spPr>
          <a:xfrm>
            <a:off x="4343400" y="3520440"/>
            <a:ext cx="3520440" cy="155448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43400" y="3657600"/>
            <a:ext cx="3520440" cy="914400"/>
          </a:xfrm>
          <a:prstGeom prst="rect">
            <a:avLst/>
          </a:prstGeom>
          <a:noFill/>
        </p:spPr>
        <p:txBody>
          <a:bodyPr wrap="square">
            <a:spAutoFit/>
          </a:bodyPr>
          <a:lstStyle/>
          <a:p>
            <a:pPr algn="ctr"/>
            <a:r>
              <a:rPr sz="3000" b="1" i="0">
                <a:solidFill>
                  <a:srgbClr val="2DB49E"/>
                </a:solidFill>
                <a:latin typeface="Calibri"/>
              </a:rPr>
              <a:t>11 → 4</a:t>
            </a:r>
          </a:p>
        </p:txBody>
      </p:sp>
      <p:sp>
        <p:nvSpPr>
          <p:cNvPr id="19" name="TextBox 18"/>
          <p:cNvSpPr txBox="1"/>
          <p:nvPr/>
        </p:nvSpPr>
        <p:spPr>
          <a:xfrm>
            <a:off x="4434840" y="4572000"/>
            <a:ext cx="3337560" cy="457200"/>
          </a:xfrm>
          <a:prstGeom prst="rect">
            <a:avLst/>
          </a:prstGeom>
          <a:noFill/>
        </p:spPr>
        <p:txBody>
          <a:bodyPr wrap="square">
            <a:spAutoFit/>
          </a:bodyPr>
          <a:lstStyle/>
          <a:p>
            <a:pPr algn="ctr"/>
            <a:r>
              <a:rPr sz="1200" b="0" i="0">
                <a:solidFill>
                  <a:srgbClr val="C9D6E3"/>
                </a:solidFill>
                <a:latin typeface="Calibri"/>
              </a:rPr>
              <a:t>npm audit vulns</a:t>
            </a:r>
          </a:p>
          <a:p>
            <a:pPr algn="ctr"/>
            <a:r>
              <a:rPr sz="1200" b="0" i="0">
                <a:solidFill>
                  <a:srgbClr val="C9D6E3"/>
                </a:solidFill>
                <a:latin typeface="Calibri"/>
              </a:rPr>
              <a:t>(remediated this cycle)</a:t>
            </a:r>
          </a:p>
        </p:txBody>
      </p:sp>
      <p:sp>
        <p:nvSpPr>
          <p:cNvPr id="20" name="Rounded Rectangle 19"/>
          <p:cNvSpPr/>
          <p:nvPr/>
        </p:nvSpPr>
        <p:spPr>
          <a:xfrm>
            <a:off x="8046720" y="3520440"/>
            <a:ext cx="3520440" cy="155448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0" y="3657600"/>
            <a:ext cx="3520440" cy="914400"/>
          </a:xfrm>
          <a:prstGeom prst="rect">
            <a:avLst/>
          </a:prstGeom>
          <a:noFill/>
        </p:spPr>
        <p:txBody>
          <a:bodyPr wrap="square">
            <a:spAutoFit/>
          </a:bodyPr>
          <a:lstStyle/>
          <a:p>
            <a:pPr algn="ctr"/>
            <a:r>
              <a:rPr sz="3000" b="1" i="0">
                <a:solidFill>
                  <a:srgbClr val="E8A83C"/>
                </a:solidFill>
                <a:latin typeface="Calibri"/>
              </a:rPr>
              <a:t>~9.4</a:t>
            </a:r>
          </a:p>
        </p:txBody>
      </p:sp>
      <p:sp>
        <p:nvSpPr>
          <p:cNvPr id="22" name="TextBox 21"/>
          <p:cNvSpPr txBox="1"/>
          <p:nvPr/>
        </p:nvSpPr>
        <p:spPr>
          <a:xfrm>
            <a:off x="8138160" y="4572000"/>
            <a:ext cx="3337560" cy="457200"/>
          </a:xfrm>
          <a:prstGeom prst="rect">
            <a:avLst/>
          </a:prstGeom>
          <a:noFill/>
        </p:spPr>
        <p:txBody>
          <a:bodyPr wrap="square">
            <a:spAutoFit/>
          </a:bodyPr>
          <a:lstStyle/>
          <a:p>
            <a:pPr algn="ctr"/>
            <a:r>
              <a:rPr sz="1200" b="0" i="0">
                <a:solidFill>
                  <a:srgbClr val="C9D6E3"/>
                </a:solidFill>
                <a:latin typeface="Calibri"/>
              </a:rPr>
              <a:t>reading level</a:t>
            </a:r>
          </a:p>
          <a:p>
            <a:pPr algn="ctr"/>
            <a:r>
              <a:rPr sz="1200" b="0" i="0">
                <a:solidFill>
                  <a:srgbClr val="C9D6E3"/>
                </a:solidFill>
                <a:latin typeface="Calibri"/>
              </a:rPr>
              <a:t>(target 6–8th grade — open gap)</a:t>
            </a:r>
          </a:p>
        </p:txBody>
      </p:sp>
      <p:sp>
        <p:nvSpPr>
          <p:cNvPr id="23" name="TextBox 22"/>
          <p:cNvSpPr txBox="1"/>
          <p:nvPr/>
        </p:nvSpPr>
        <p:spPr>
          <a:xfrm>
            <a:off x="640080" y="6492240"/>
            <a:ext cx="5486400" cy="274320"/>
          </a:xfrm>
          <a:prstGeom prst="rect">
            <a:avLst/>
          </a:prstGeom>
          <a:noFill/>
        </p:spPr>
        <p:txBody>
          <a:bodyPr wrap="square">
            <a:spAutoFit/>
          </a:bodyPr>
          <a:lstStyle/>
          <a:p>
            <a:pPr algn="l"/>
            <a:r>
              <a:rPr sz="1000" b="0" i="0">
                <a:solidFill>
                  <a:srgbClr val="6E829C"/>
                </a:solidFill>
                <a:latin typeface="Calibri"/>
              </a:rPr>
              <a:t>ClearSignal — LymeX Innovation Accelerator (HHS OASH / NIH ORWH)</a:t>
            </a:r>
          </a:p>
        </p:txBody>
      </p:sp>
      <p:sp>
        <p:nvSpPr>
          <p:cNvPr id="24" name="TextBox 23"/>
          <p:cNvSpPr txBox="1"/>
          <p:nvPr/>
        </p:nvSpPr>
        <p:spPr>
          <a:xfrm>
            <a:off x="11247120" y="6492240"/>
            <a:ext cx="548640" cy="274320"/>
          </a:xfrm>
          <a:prstGeom prst="rect">
            <a:avLst/>
          </a:prstGeom>
          <a:noFill/>
        </p:spPr>
        <p:txBody>
          <a:bodyPr wrap="square">
            <a:spAutoFit/>
          </a:bodyPr>
          <a:lstStyle/>
          <a:p>
            <a:pPr algn="r"/>
            <a:r>
              <a:rPr sz="1000" b="0" i="0">
                <a:solidFill>
                  <a:srgbClr val="6E829C"/>
                </a:solidFill>
                <a:latin typeface="Calibri"/>
              </a:rPr>
              <a:t>11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640080" y="365760"/>
            <a:ext cx="9144000" cy="457200"/>
          </a:xfrm>
          <a:prstGeom prst="rect">
            <a:avLst/>
          </a:prstGeom>
          <a:noFill/>
        </p:spPr>
        <p:txBody>
          <a:bodyPr wrap="square">
            <a:spAutoFit/>
          </a:bodyPr>
          <a:lstStyle/>
          <a:p>
            <a:pPr algn="l"/>
            <a:r>
              <a:rPr sz="1400" b="1" i="0">
                <a:solidFill>
                  <a:srgbClr val="2DB49E"/>
                </a:solidFill>
                <a:latin typeface="Calibri"/>
              </a:rPr>
              <a:t>SECURITY, OBSERVABILITY &amp; COST</a:t>
            </a:r>
          </a:p>
        </p:txBody>
      </p:sp>
      <p:sp>
        <p:nvSpPr>
          <p:cNvPr id="3" name="TextBox 2"/>
          <p:cNvSpPr txBox="1"/>
          <p:nvPr/>
        </p:nvSpPr>
        <p:spPr>
          <a:xfrm>
            <a:off x="640080" y="685800"/>
            <a:ext cx="10881360" cy="914400"/>
          </a:xfrm>
          <a:prstGeom prst="rect">
            <a:avLst/>
          </a:prstGeom>
          <a:noFill/>
        </p:spPr>
        <p:txBody>
          <a:bodyPr wrap="square">
            <a:spAutoFit/>
          </a:bodyPr>
          <a:lstStyle/>
          <a:p>
            <a:pPr algn="l"/>
            <a:r>
              <a:rPr sz="2800" b="1" i="0">
                <a:solidFill>
                  <a:srgbClr val="FFFFFF"/>
                </a:solidFill>
                <a:latin typeface="Calibri"/>
              </a:rPr>
              <a:t>Production engineering, not just a demo</a:t>
            </a:r>
          </a:p>
        </p:txBody>
      </p:sp>
      <p:cxnSp>
        <p:nvCxnSpPr>
          <p:cNvPr id="4" name="Connector 3"/>
          <p:cNvCxnSpPr/>
          <p:nvPr/>
        </p:nvCxnSpPr>
        <p:spPr>
          <a:xfrm>
            <a:off x="640080" y="1417320"/>
            <a:ext cx="10881360" cy="0"/>
          </a:xfrm>
          <a:prstGeom prst="line">
            <a:avLst/>
          </a:prstGeom>
          <a:ln w="19050">
            <a:solidFill>
              <a:srgbClr val="1B6E6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783080"/>
            <a:ext cx="6309360" cy="4206240"/>
          </a:xfrm>
          <a:prstGeom prst="rect">
            <a:avLst/>
          </a:prstGeom>
          <a:noFill/>
        </p:spPr>
        <p:txBody>
          <a:bodyPr wrap="square">
            <a:spAutoFit/>
          </a:bodyPr>
          <a:lstStyle/>
          <a:p>
            <a:pPr>
              <a:spcAft>
                <a:spcPts val="1400"/>
              </a:spcAft>
            </a:pPr>
            <a:r>
              <a:rPr sz="1500" b="1">
                <a:solidFill>
                  <a:srgbClr val="FFFFFF"/>
                </a:solidFill>
                <a:latin typeface="Calibri"/>
              </a:rPr>
              <a:t>•  Security audit performed.  </a:t>
            </a:r>
            <a:r>
              <a:rPr sz="1500">
                <a:solidFill>
                  <a:srgbClr val="C9D6E3"/>
                </a:solidFill>
                <a:latin typeface="Calibri"/>
              </a:rPr>
              <a:t>npm audit 11 → 4 vulns (remainder transitive, documented risk rationale, unused code path).</a:t>
            </a:r>
          </a:p>
          <a:p>
            <a:pPr>
              <a:spcAft>
                <a:spcPts val="1400"/>
              </a:spcAft>
            </a:pPr>
            <a:r>
              <a:rPr sz="1500" b="1">
                <a:solidFill>
                  <a:srgbClr val="FFFFFF"/>
                </a:solidFill>
                <a:latin typeface="Calibri"/>
              </a:rPr>
              <a:t>•  Hardened by default.  </a:t>
            </a:r>
            <a:r>
              <a:rPr sz="1500">
                <a:solidFill>
                  <a:srgbClr val="C9D6E3"/>
                </a:solidFill>
                <a:latin typeface="Calibri"/>
              </a:rPr>
              <a:t>CSP, HSTS, X-Frame-Options, Permissions-Policy; zod input validation on every route parsing untrusted JSON; rate limiting on every AI-calling route.</a:t>
            </a:r>
          </a:p>
          <a:p>
            <a:pPr>
              <a:spcAft>
                <a:spcPts val="1400"/>
              </a:spcAft>
            </a:pPr>
            <a:r>
              <a:rPr sz="1500" b="1">
                <a:solidFill>
                  <a:srgbClr val="FFFFFF"/>
                </a:solidFill>
                <a:latin typeface="Calibri"/>
              </a:rPr>
              <a:t>•  Observability built.  </a:t>
            </a:r>
            <a:r>
              <a:rPr sz="1500">
                <a:solidFill>
                  <a:srgbClr val="C9D6E3"/>
                </a:solidFill>
                <a:latin typeface="Calibri"/>
              </a:rPr>
              <a:t>Structured JSON logs + a custom request-metrics system feeding a real /admin dashboard (p50/p95 latency, error rate, token usage).</a:t>
            </a:r>
          </a:p>
          <a:p>
            <a:pPr>
              <a:spcAft>
                <a:spcPts val="1400"/>
              </a:spcAft>
            </a:pPr>
            <a:r>
              <a:rPr sz="1500" b="1">
                <a:solidFill>
                  <a:srgbClr val="FFFFFF"/>
                </a:solidFill>
                <a:latin typeface="Calibri"/>
              </a:rPr>
              <a:t>•  Containerized and verified.  </a:t>
            </a:r>
            <a:r>
              <a:rPr sz="1500">
                <a:solidFill>
                  <a:srgbClr val="C9D6E3"/>
                </a:solidFill>
                <a:latin typeface="Calibri"/>
              </a:rPr>
              <a:t>Multi-stage Docker image built and booted live — non-root user confirmed, security headers present, graceful failure without secrets.</a:t>
            </a:r>
          </a:p>
        </p:txBody>
      </p:sp>
      <p:sp>
        <p:nvSpPr>
          <p:cNvPr id="6" name="Rounded Rectangle 5"/>
          <p:cNvSpPr/>
          <p:nvPr/>
        </p:nvSpPr>
        <p:spPr>
          <a:xfrm>
            <a:off x="7406640" y="1783080"/>
            <a:ext cx="3886200" cy="420624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35240" y="1965960"/>
            <a:ext cx="3474720" cy="457200"/>
          </a:xfrm>
          <a:prstGeom prst="rect">
            <a:avLst/>
          </a:prstGeom>
          <a:noFill/>
        </p:spPr>
        <p:txBody>
          <a:bodyPr wrap="square">
            <a:spAutoFit/>
          </a:bodyPr>
          <a:lstStyle/>
          <a:p>
            <a:pPr algn="l"/>
            <a:r>
              <a:rPr sz="1800" b="1" i="0">
                <a:solidFill>
                  <a:srgbClr val="2DB49E"/>
                </a:solidFill>
                <a:latin typeface="Calibri"/>
              </a:rPr>
              <a:t>Cost today</a:t>
            </a:r>
          </a:p>
        </p:txBody>
      </p:sp>
      <p:sp>
        <p:nvSpPr>
          <p:cNvPr id="8" name="TextBox 7"/>
          <p:cNvSpPr txBox="1"/>
          <p:nvPr/>
        </p:nvSpPr>
        <p:spPr>
          <a:xfrm>
            <a:off x="7635240" y="2514600"/>
            <a:ext cx="3474720" cy="914400"/>
          </a:xfrm>
          <a:prstGeom prst="rect">
            <a:avLst/>
          </a:prstGeom>
          <a:noFill/>
        </p:spPr>
        <p:txBody>
          <a:bodyPr wrap="square">
            <a:spAutoFit/>
          </a:bodyPr>
          <a:lstStyle/>
          <a:p>
            <a:pPr algn="l"/>
            <a:r>
              <a:rPr sz="3400" b="1" i="0">
                <a:solidFill>
                  <a:srgbClr val="FFFFFF"/>
                </a:solidFill>
                <a:latin typeface="Calibri"/>
              </a:rPr>
              <a:t>$0/month</a:t>
            </a:r>
          </a:p>
        </p:txBody>
      </p:sp>
      <p:sp>
        <p:nvSpPr>
          <p:cNvPr id="9" name="TextBox 8"/>
          <p:cNvSpPr txBox="1"/>
          <p:nvPr/>
        </p:nvSpPr>
        <p:spPr>
          <a:xfrm>
            <a:off x="7635240" y="3383280"/>
            <a:ext cx="3474720" cy="2468880"/>
          </a:xfrm>
          <a:prstGeom prst="rect">
            <a:avLst/>
          </a:prstGeom>
          <a:noFill/>
        </p:spPr>
        <p:txBody>
          <a:bodyPr wrap="square">
            <a:spAutoFit/>
          </a:bodyPr>
          <a:lstStyle/>
          <a:p>
            <a:pPr algn="l"/>
            <a:r>
              <a:rPr sz="1300" b="0" i="0">
                <a:solidFill>
                  <a:srgbClr val="C9D6E3"/>
                </a:solidFill>
                <a:latin typeface="Calibri"/>
              </a:rPr>
              <a:t>Every service (Back4App, Upstash, Groq, Netlify, NPPES, ClinicalTrials.gov) runs on a free tier. Groq's 100K tokens/day cap is the binding constraint — now monitored in-app via a daily token-budget tracker, not just assumed safe.</a:t>
            </a:r>
          </a:p>
        </p:txBody>
      </p:sp>
      <p:sp>
        <p:nvSpPr>
          <p:cNvPr id="10" name="TextBox 9"/>
          <p:cNvSpPr txBox="1"/>
          <p:nvPr/>
        </p:nvSpPr>
        <p:spPr>
          <a:xfrm>
            <a:off x="640080" y="6492240"/>
            <a:ext cx="5486400" cy="274320"/>
          </a:xfrm>
          <a:prstGeom prst="rect">
            <a:avLst/>
          </a:prstGeom>
          <a:noFill/>
        </p:spPr>
        <p:txBody>
          <a:bodyPr wrap="square">
            <a:spAutoFit/>
          </a:bodyPr>
          <a:lstStyle/>
          <a:p>
            <a:pPr algn="l"/>
            <a:r>
              <a:rPr sz="1000" b="0" i="0">
                <a:solidFill>
                  <a:srgbClr val="6E829C"/>
                </a:solidFill>
                <a:latin typeface="Calibri"/>
              </a:rPr>
              <a:t>ClearSignal — LymeX Innovation Accelerator (HHS OASH / NIH ORWH)</a:t>
            </a:r>
          </a:p>
        </p:txBody>
      </p:sp>
      <p:sp>
        <p:nvSpPr>
          <p:cNvPr id="11" name="TextBox 10"/>
          <p:cNvSpPr txBox="1"/>
          <p:nvPr/>
        </p:nvSpPr>
        <p:spPr>
          <a:xfrm>
            <a:off x="11247120" y="6492240"/>
            <a:ext cx="548640" cy="274320"/>
          </a:xfrm>
          <a:prstGeom prst="rect">
            <a:avLst/>
          </a:prstGeom>
          <a:noFill/>
        </p:spPr>
        <p:txBody>
          <a:bodyPr wrap="square">
            <a:spAutoFit/>
          </a:bodyPr>
          <a:lstStyle/>
          <a:p>
            <a:pPr algn="r"/>
            <a:r>
              <a:rPr sz="1000" b="0" i="0">
                <a:solidFill>
                  <a:srgbClr val="6E829C"/>
                </a:solidFill>
                <a:latin typeface="Calibri"/>
              </a:rPr>
              <a:t>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640080" y="365760"/>
            <a:ext cx="9144000" cy="457200"/>
          </a:xfrm>
          <a:prstGeom prst="rect">
            <a:avLst/>
          </a:prstGeom>
          <a:noFill/>
        </p:spPr>
        <p:txBody>
          <a:bodyPr wrap="square">
            <a:spAutoFit/>
          </a:bodyPr>
          <a:lstStyle/>
          <a:p>
            <a:pPr algn="l"/>
            <a:r>
              <a:rPr sz="1400" b="1" i="0">
                <a:solidFill>
                  <a:srgbClr val="2DB49E"/>
                </a:solidFill>
                <a:latin typeface="Calibri"/>
              </a:rPr>
              <a:t>LIVE DEMO</a:t>
            </a:r>
          </a:p>
        </p:txBody>
      </p:sp>
      <p:sp>
        <p:nvSpPr>
          <p:cNvPr id="3" name="TextBox 2"/>
          <p:cNvSpPr txBox="1"/>
          <p:nvPr/>
        </p:nvSpPr>
        <p:spPr>
          <a:xfrm>
            <a:off x="640080" y="685800"/>
            <a:ext cx="10881360" cy="914400"/>
          </a:xfrm>
          <a:prstGeom prst="rect">
            <a:avLst/>
          </a:prstGeom>
          <a:noFill/>
        </p:spPr>
        <p:txBody>
          <a:bodyPr wrap="square">
            <a:spAutoFit/>
          </a:bodyPr>
          <a:lstStyle/>
          <a:p>
            <a:pPr algn="l"/>
            <a:r>
              <a:rPr sz="3000" b="1" i="0">
                <a:solidFill>
                  <a:srgbClr val="FFFFFF"/>
                </a:solidFill>
                <a:latin typeface="Calibri"/>
              </a:rPr>
              <a:t>healwithaura.netlify.app/chat</a:t>
            </a:r>
          </a:p>
        </p:txBody>
      </p:sp>
      <p:cxnSp>
        <p:nvCxnSpPr>
          <p:cNvPr id="4" name="Connector 3"/>
          <p:cNvCxnSpPr/>
          <p:nvPr/>
        </p:nvCxnSpPr>
        <p:spPr>
          <a:xfrm>
            <a:off x="640080" y="1417320"/>
            <a:ext cx="10881360" cy="0"/>
          </a:xfrm>
          <a:prstGeom prst="line">
            <a:avLst/>
          </a:prstGeom>
          <a:ln w="19050">
            <a:solidFill>
              <a:srgbClr val="1B6E6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783080"/>
            <a:ext cx="10881360" cy="2011680"/>
          </a:xfrm>
          <a:prstGeom prst="rect">
            <a:avLst/>
          </a:prstGeom>
          <a:noFill/>
        </p:spPr>
        <p:txBody>
          <a:bodyPr wrap="square">
            <a:spAutoFit/>
          </a:bodyPr>
          <a:lstStyle/>
          <a:p>
            <a:pPr>
              <a:spcAft>
                <a:spcPts val="1000"/>
              </a:spcAft>
            </a:pPr>
            <a:r>
              <a:rPr sz="1600">
                <a:solidFill>
                  <a:srgbClr val="C9D6E3"/>
                </a:solidFill>
                <a:latin typeface="Calibri"/>
              </a:rPr>
              <a:t>•  /chat — hybrid RAG conversation, grounded citations, voice in/out</a:t>
            </a:r>
          </a:p>
          <a:p>
            <a:pPr>
              <a:spcAft>
                <a:spcPts val="1000"/>
              </a:spcAft>
            </a:pPr>
            <a:r>
              <a:rPr sz="1600">
                <a:solidFill>
                  <a:srgbClr val="C9D6E3"/>
                </a:solidFill>
                <a:latin typeface="Calibri"/>
              </a:rPr>
              <a:t>•  /journal — symptom + function log, Anchors, Exposure, Rash Photos, and “Ask Your Journal” agent</a:t>
            </a:r>
          </a:p>
          <a:p>
            <a:pPr>
              <a:spcAft>
                <a:spcPts val="1000"/>
              </a:spcAft>
            </a:pPr>
            <a:r>
              <a:rPr sz="1600">
                <a:solidFill>
                  <a:srgbClr val="C9D6E3"/>
                </a:solidFill>
                <a:latin typeface="Calibri"/>
              </a:rPr>
              <a:t>•  /handoff — one-page AI-generated clinician handoff document</a:t>
            </a:r>
          </a:p>
          <a:p>
            <a:pPr>
              <a:spcAft>
                <a:spcPts val="1000"/>
              </a:spcAft>
            </a:pPr>
            <a:r>
              <a:rPr sz="1600">
                <a:solidFill>
                  <a:srgbClr val="C9D6E3"/>
                </a:solidFill>
                <a:latin typeface="Calibri"/>
              </a:rPr>
              <a:t>•  /test-context — negative-test contextualizer against real CDC timing data</a:t>
            </a:r>
          </a:p>
          <a:p>
            <a:pPr>
              <a:spcAft>
                <a:spcPts val="1000"/>
              </a:spcAft>
            </a:pPr>
            <a:r>
              <a:rPr sz="1600">
                <a:solidFill>
                  <a:srgbClr val="C9D6E3"/>
                </a:solidFill>
                <a:latin typeface="Calibri"/>
              </a:rPr>
              <a:t>•  /admin — live observability dashboard (request volume, p50/p95, token usage)</a:t>
            </a:r>
          </a:p>
        </p:txBody>
      </p:sp>
      <p:sp>
        <p:nvSpPr>
          <p:cNvPr id="6" name="Rounded Rectangle 5"/>
          <p:cNvSpPr/>
          <p:nvPr/>
        </p:nvSpPr>
        <p:spPr>
          <a:xfrm>
            <a:off x="640080" y="3977639"/>
            <a:ext cx="10881360" cy="192024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241280" cy="457200"/>
          </a:xfrm>
          <a:prstGeom prst="rect">
            <a:avLst/>
          </a:prstGeom>
          <a:noFill/>
        </p:spPr>
        <p:txBody>
          <a:bodyPr wrap="square">
            <a:spAutoFit/>
          </a:bodyPr>
          <a:lstStyle/>
          <a:p>
            <a:pPr algn="l"/>
            <a:r>
              <a:rPr sz="1600" b="1" i="0">
                <a:solidFill>
                  <a:srgbClr val="E8A83C"/>
                </a:solidFill>
                <a:latin typeface="Calibri"/>
              </a:rPr>
              <a:t>Backup plan</a:t>
            </a:r>
          </a:p>
        </p:txBody>
      </p:sp>
      <p:sp>
        <p:nvSpPr>
          <p:cNvPr id="8" name="TextBox 7"/>
          <p:cNvSpPr txBox="1"/>
          <p:nvPr/>
        </p:nvSpPr>
        <p:spPr>
          <a:xfrm>
            <a:off x="914400" y="4617720"/>
            <a:ext cx="10241280" cy="1188720"/>
          </a:xfrm>
          <a:prstGeom prst="rect">
            <a:avLst/>
          </a:prstGeom>
          <a:noFill/>
        </p:spPr>
        <p:txBody>
          <a:bodyPr wrap="square">
            <a:spAutoFit/>
          </a:bodyPr>
          <a:lstStyle/>
          <a:p>
            <a:pPr algn="l"/>
            <a:r>
              <a:rPr sz="1450" b="0" i="0">
                <a:solidFill>
                  <a:srgbClr val="C9D6E3"/>
                </a:solidFill>
                <a:latin typeface="Calibri"/>
              </a:rPr>
              <a:t>App is hosted on Netlify, not run locally — a venue Wi-Fi hiccup affects the presenter, not the app. A recorded walkthrough is live at youtu.be/HF35uvYdDJ8 as a fallback if the live demo can't run.</a:t>
            </a:r>
          </a:p>
        </p:txBody>
      </p:sp>
      <p:sp>
        <p:nvSpPr>
          <p:cNvPr id="9" name="TextBox 8"/>
          <p:cNvSpPr txBox="1"/>
          <p:nvPr/>
        </p:nvSpPr>
        <p:spPr>
          <a:xfrm>
            <a:off x="640080" y="6492240"/>
            <a:ext cx="5486400" cy="274320"/>
          </a:xfrm>
          <a:prstGeom prst="rect">
            <a:avLst/>
          </a:prstGeom>
          <a:noFill/>
        </p:spPr>
        <p:txBody>
          <a:bodyPr wrap="square">
            <a:spAutoFit/>
          </a:bodyPr>
          <a:lstStyle/>
          <a:p>
            <a:pPr algn="l"/>
            <a:r>
              <a:rPr sz="1000" b="0" i="0">
                <a:solidFill>
                  <a:srgbClr val="6E829C"/>
                </a:solidFill>
                <a:latin typeface="Calibri"/>
              </a:rPr>
              <a:t>ClearSignal — LymeX Innovation Accelerator (HHS OASH / NIH ORWH)</a:t>
            </a:r>
          </a:p>
        </p:txBody>
      </p:sp>
      <p:sp>
        <p:nvSpPr>
          <p:cNvPr id="10" name="TextBox 9"/>
          <p:cNvSpPr txBox="1"/>
          <p:nvPr/>
        </p:nvSpPr>
        <p:spPr>
          <a:xfrm>
            <a:off x="11247120" y="6492240"/>
            <a:ext cx="548640" cy="274320"/>
          </a:xfrm>
          <a:prstGeom prst="rect">
            <a:avLst/>
          </a:prstGeom>
          <a:noFill/>
        </p:spPr>
        <p:txBody>
          <a:bodyPr wrap="square">
            <a:spAutoFit/>
          </a:bodyPr>
          <a:lstStyle/>
          <a:p>
            <a:pPr algn="r"/>
            <a:r>
              <a:rPr sz="1000" b="0" i="0">
                <a:solidFill>
                  <a:srgbClr val="6E829C"/>
                </a:solidFill>
                <a:latin typeface="Calibri"/>
              </a:rPr>
              <a:t>13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640080" y="365760"/>
            <a:ext cx="9144000" cy="457200"/>
          </a:xfrm>
          <a:prstGeom prst="rect">
            <a:avLst/>
          </a:prstGeom>
          <a:noFill/>
        </p:spPr>
        <p:txBody>
          <a:bodyPr wrap="square">
            <a:spAutoFit/>
          </a:bodyPr>
          <a:lstStyle/>
          <a:p>
            <a:pPr algn="l"/>
            <a:r>
              <a:rPr sz="1400" b="1" i="0">
                <a:solidFill>
                  <a:srgbClr val="2DB49E"/>
                </a:solidFill>
                <a:latin typeface="Calibri"/>
              </a:rPr>
              <a:t>ROADMAP</a:t>
            </a:r>
          </a:p>
        </p:txBody>
      </p:sp>
      <p:sp>
        <p:nvSpPr>
          <p:cNvPr id="3" name="TextBox 2"/>
          <p:cNvSpPr txBox="1"/>
          <p:nvPr/>
        </p:nvSpPr>
        <p:spPr>
          <a:xfrm>
            <a:off x="640080" y="685800"/>
            <a:ext cx="10881360" cy="914400"/>
          </a:xfrm>
          <a:prstGeom prst="rect">
            <a:avLst/>
          </a:prstGeom>
          <a:noFill/>
        </p:spPr>
        <p:txBody>
          <a:bodyPr wrap="square">
            <a:spAutoFit/>
          </a:bodyPr>
          <a:lstStyle/>
          <a:p>
            <a:pPr algn="l"/>
            <a:r>
              <a:rPr sz="3200" b="1" i="0">
                <a:solidFill>
                  <a:srgbClr val="FFFFFF"/>
                </a:solidFill>
                <a:latin typeface="Calibri"/>
              </a:rPr>
              <a:t>What's next</a:t>
            </a:r>
          </a:p>
        </p:txBody>
      </p:sp>
      <p:cxnSp>
        <p:nvCxnSpPr>
          <p:cNvPr id="4" name="Connector 3"/>
          <p:cNvCxnSpPr/>
          <p:nvPr/>
        </p:nvCxnSpPr>
        <p:spPr>
          <a:xfrm>
            <a:off x="640080" y="1417320"/>
            <a:ext cx="10881360" cy="0"/>
          </a:xfrm>
          <a:prstGeom prst="line">
            <a:avLst/>
          </a:prstGeom>
          <a:ln w="19050">
            <a:solidFill>
              <a:srgbClr val="1B6E6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783080"/>
            <a:ext cx="10881360" cy="2103120"/>
          </a:xfrm>
          <a:prstGeom prst="rect">
            <a:avLst/>
          </a:prstGeom>
          <a:noFill/>
        </p:spPr>
        <p:txBody>
          <a:bodyPr wrap="square">
            <a:spAutoFit/>
          </a:bodyPr>
          <a:lstStyle/>
          <a:p>
            <a:pPr>
              <a:spcAft>
                <a:spcPts val="1400"/>
              </a:spcAft>
            </a:pPr>
            <a:r>
              <a:rPr sz="1550" b="1">
                <a:solidFill>
                  <a:srgbClr val="FFFFFF"/>
                </a:solidFill>
                <a:latin typeface="Calibri"/>
              </a:rPr>
              <a:t>•  Eval-driven quality pass (in progress)  </a:t>
            </a:r>
            <a:r>
              <a:rPr sz="1550">
                <a:solidFill>
                  <a:srgbClr val="C9D6E3"/>
                </a:solidFill>
                <a:latin typeface="Calibri"/>
              </a:rPr>
              <a:t>fix the reading-level gap (9.4 → 6–8th grade target), expand the gold eval set toward 150–200 hand-verified questions.</a:t>
            </a:r>
          </a:p>
          <a:p>
            <a:pPr>
              <a:spcAft>
                <a:spcPts val="1400"/>
              </a:spcAft>
            </a:pPr>
            <a:r>
              <a:rPr sz="1550" b="1">
                <a:solidFill>
                  <a:srgbClr val="FFFFFF"/>
                </a:solidFill>
                <a:latin typeface="Calibri"/>
              </a:rPr>
              <a:t>•  Pet Sentinel  </a:t>
            </a:r>
            <a:r>
              <a:rPr sz="1550">
                <a:solidFill>
                  <a:srgbClr val="C9D6E3"/>
                </a:solidFill>
                <a:latin typeface="Calibri"/>
              </a:rPr>
              <a:t>veterinary tick-screening results as documented exposure evidence — lab-confirmed proof ticks are present at the residence, a question no human intake currently asks.</a:t>
            </a:r>
          </a:p>
          <a:p>
            <a:pPr>
              <a:spcAft>
                <a:spcPts val="1400"/>
              </a:spcAft>
            </a:pPr>
            <a:r>
              <a:rPr sz="1550" b="1">
                <a:solidFill>
                  <a:srgbClr val="FFFFFF"/>
                </a:solidFill>
                <a:latin typeface="Calibri"/>
              </a:rPr>
              <a:t>•  Treatment-Response Window  </a:t>
            </a:r>
            <a:r>
              <a:rPr sz="1550">
                <a:solidFill>
                  <a:srgbClr val="C9D6E3"/>
                </a:solidFill>
                <a:latin typeface="Calibri"/>
              </a:rPr>
              <a:t>flags a Jarisch-Herxheimer symptom spike in the first 3 days of treatment so patients don't wrongly stop antibiotics — safety-gated behind red-flag precedence.</a:t>
            </a:r>
          </a:p>
        </p:txBody>
      </p:sp>
      <p:sp>
        <p:nvSpPr>
          <p:cNvPr id="6" name="Rounded Rectangle 5"/>
          <p:cNvSpPr/>
          <p:nvPr/>
        </p:nvSpPr>
        <p:spPr>
          <a:xfrm>
            <a:off x="640080" y="4160520"/>
            <a:ext cx="10881360" cy="173736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315968"/>
            <a:ext cx="10241280" cy="411480"/>
          </a:xfrm>
          <a:prstGeom prst="rect">
            <a:avLst/>
          </a:prstGeom>
          <a:noFill/>
        </p:spPr>
        <p:txBody>
          <a:bodyPr wrap="square">
            <a:spAutoFit/>
          </a:bodyPr>
          <a:lstStyle/>
          <a:p>
            <a:pPr algn="l"/>
            <a:r>
              <a:rPr sz="1500" b="1" i="0">
                <a:solidFill>
                  <a:srgbClr val="E8A83C"/>
                </a:solidFill>
                <a:latin typeface="Calibri"/>
              </a:rPr>
              <a:t>Longer horizon</a:t>
            </a:r>
          </a:p>
        </p:txBody>
      </p:sp>
      <p:sp>
        <p:nvSpPr>
          <p:cNvPr id="8" name="TextBox 7"/>
          <p:cNvSpPr txBox="1"/>
          <p:nvPr/>
        </p:nvSpPr>
        <p:spPr>
          <a:xfrm>
            <a:off x="914400" y="4709160"/>
            <a:ext cx="10241280" cy="1097280"/>
          </a:xfrm>
          <a:prstGeom prst="rect">
            <a:avLst/>
          </a:prstGeom>
          <a:noFill/>
        </p:spPr>
        <p:txBody>
          <a:bodyPr wrap="square">
            <a:spAutoFit/>
          </a:bodyPr>
          <a:lstStyle/>
          <a:p>
            <a:pPr algn="l"/>
            <a:r>
              <a:rPr sz="1350" b="0" i="0">
                <a:solidFill>
                  <a:srgbClr val="C9D6E3"/>
                </a:solidFill>
                <a:latin typeface="Calibri"/>
              </a:rPr>
              <a:t>QLoRA fine-tune of MedGemma on this app's own eval-verified, citation-checked outputs — moving off general-purpose hosted inference and onto a model adapted to this domain's constraints, only once it matches or beats the current pipeline's measured safety numbers.</a:t>
            </a:r>
          </a:p>
        </p:txBody>
      </p:sp>
      <p:sp>
        <p:nvSpPr>
          <p:cNvPr id="9" name="TextBox 8"/>
          <p:cNvSpPr txBox="1"/>
          <p:nvPr/>
        </p:nvSpPr>
        <p:spPr>
          <a:xfrm>
            <a:off x="640080" y="6492240"/>
            <a:ext cx="5486400" cy="274320"/>
          </a:xfrm>
          <a:prstGeom prst="rect">
            <a:avLst/>
          </a:prstGeom>
          <a:noFill/>
        </p:spPr>
        <p:txBody>
          <a:bodyPr wrap="square">
            <a:spAutoFit/>
          </a:bodyPr>
          <a:lstStyle/>
          <a:p>
            <a:pPr algn="l"/>
            <a:r>
              <a:rPr sz="1000" b="0" i="0">
                <a:solidFill>
                  <a:srgbClr val="6E829C"/>
                </a:solidFill>
                <a:latin typeface="Calibri"/>
              </a:rPr>
              <a:t>ClearSignal — LymeX Innovation Accelerator (HHS OASH / NIH ORWH)</a:t>
            </a:r>
          </a:p>
        </p:txBody>
      </p:sp>
      <p:sp>
        <p:nvSpPr>
          <p:cNvPr id="10" name="TextBox 9"/>
          <p:cNvSpPr txBox="1"/>
          <p:nvPr/>
        </p:nvSpPr>
        <p:spPr>
          <a:xfrm>
            <a:off x="11247120" y="6492240"/>
            <a:ext cx="548640" cy="274320"/>
          </a:xfrm>
          <a:prstGeom prst="rect">
            <a:avLst/>
          </a:prstGeom>
          <a:noFill/>
        </p:spPr>
        <p:txBody>
          <a:bodyPr wrap="square">
            <a:spAutoFit/>
          </a:bodyPr>
          <a:lstStyle/>
          <a:p>
            <a:pPr algn="r"/>
            <a:r>
              <a:rPr sz="1000" b="0" i="0">
                <a:solidFill>
                  <a:srgbClr val="6E829C"/>
                </a:solidFill>
                <a:latin typeface="Calibri"/>
              </a:rPr>
              <a:t>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TextBox 1"/>
          <p:cNvSpPr txBox="1"/>
          <p:nvPr/>
        </p:nvSpPr>
        <p:spPr>
          <a:xfrm>
            <a:off x="640080" y="365760"/>
            <a:ext cx="9144000" cy="457200"/>
          </a:xfrm>
          <a:prstGeom prst="rect">
            <a:avLst/>
          </a:prstGeom>
          <a:noFill/>
        </p:spPr>
        <p:txBody>
          <a:bodyPr wrap="square">
            <a:spAutoFit/>
          </a:bodyPr>
          <a:lstStyle/>
          <a:p>
            <a:pPr algn="l"/>
            <a:r>
              <a:rPr sz="1400" b="1" i="0">
                <a:solidFill>
                  <a:srgbClr val="E8A83C"/>
                </a:solidFill>
                <a:latin typeface="Calibri"/>
              </a:rPr>
              <a:t>STATED PLAINLY</a:t>
            </a:r>
          </a:p>
        </p:txBody>
      </p:sp>
      <p:sp>
        <p:nvSpPr>
          <p:cNvPr id="3" name="TextBox 2"/>
          <p:cNvSpPr txBox="1"/>
          <p:nvPr/>
        </p:nvSpPr>
        <p:spPr>
          <a:xfrm>
            <a:off x="640080" y="685800"/>
            <a:ext cx="10881360" cy="914400"/>
          </a:xfrm>
          <a:prstGeom prst="rect">
            <a:avLst/>
          </a:prstGeom>
          <a:noFill/>
        </p:spPr>
        <p:txBody>
          <a:bodyPr wrap="square">
            <a:spAutoFit/>
          </a:bodyPr>
          <a:lstStyle/>
          <a:p>
            <a:pPr algn="l"/>
            <a:r>
              <a:rPr sz="2700" b="1" i="0">
                <a:solidFill>
                  <a:srgbClr val="FFFFFF"/>
                </a:solidFill>
                <a:latin typeface="Calibri"/>
              </a:rPr>
              <a:t>What's real, and what still needs a human</a:t>
            </a:r>
          </a:p>
        </p:txBody>
      </p:sp>
      <p:cxnSp>
        <p:nvCxnSpPr>
          <p:cNvPr id="4" name="Connector 3"/>
          <p:cNvCxnSpPr/>
          <p:nvPr/>
        </p:nvCxnSpPr>
        <p:spPr>
          <a:xfrm>
            <a:off x="640080" y="1417320"/>
            <a:ext cx="10881360" cy="0"/>
          </a:xfrm>
          <a:prstGeom prst="line">
            <a:avLst/>
          </a:prstGeom>
          <a:ln w="19050">
            <a:solidFill>
              <a:srgbClr val="1B6E6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783080"/>
            <a:ext cx="10881360" cy="4206240"/>
          </a:xfrm>
          <a:prstGeom prst="rect">
            <a:avLst/>
          </a:prstGeom>
          <a:noFill/>
        </p:spPr>
        <p:txBody>
          <a:bodyPr wrap="square">
            <a:spAutoFit/>
          </a:bodyPr>
          <a:lstStyle/>
          <a:p>
            <a:pPr>
              <a:spcAft>
                <a:spcPts val="1300"/>
              </a:spcAft>
            </a:pPr>
            <a:r>
              <a:rPr sz="1500">
                <a:solidFill>
                  <a:srgbClr val="C9D6E3"/>
                </a:solidFill>
                <a:latin typeface="Calibri"/>
              </a:rPr>
              <a:t>•  Lyme disease only — the condition-agnostic engine (ME/CFS, long COVID, fibromyalgia, endometriosis) is architected for but not built; nothing here fakes clinical content for a condition we haven't researched.</a:t>
            </a:r>
          </a:p>
          <a:p>
            <a:pPr>
              <a:spcAft>
                <a:spcPts val="1300"/>
              </a:spcAft>
            </a:pPr>
            <a:r>
              <a:rPr sz="1500">
                <a:solidFill>
                  <a:srgbClr val="C9D6E3"/>
                </a:solidFill>
                <a:latin typeface="Calibri"/>
              </a:rPr>
              <a:t>•  Red-flag copy, the 42-question gold eval set, and the ~45-entry vocabulary table are AI-drafted and need a clinical/legal review pass before real patient use.</a:t>
            </a:r>
          </a:p>
          <a:p>
            <a:pPr>
              <a:spcAft>
                <a:spcPts val="1300"/>
              </a:spcAft>
            </a:pPr>
            <a:r>
              <a:rPr sz="1500">
                <a:solidFill>
                  <a:srgbClr val="C9D6E3"/>
                </a:solidFill>
                <a:latin typeface="Calibri"/>
              </a:rPr>
              <a:t>•  Contested-territory citations are directionally accurate but specific guideline titles/years are marked [needs citation], not independently verified.</a:t>
            </a:r>
          </a:p>
          <a:p>
            <a:pPr>
              <a:spcAft>
                <a:spcPts val="1300"/>
              </a:spcAft>
            </a:pPr>
            <a:r>
              <a:rPr sz="1500">
                <a:solidFill>
                  <a:srgbClr val="C9D6E3"/>
                </a:solidFill>
                <a:latin typeface="Calibri"/>
              </a:rPr>
              <a:t>•  No adversarial prompt-injection red-team pass yet (spec calls for 50+ prompts); no CI pipeline enforcing tsc/eslint/audit automatically.</a:t>
            </a:r>
          </a:p>
          <a:p>
            <a:pPr>
              <a:spcAft>
                <a:spcPts val="1300"/>
              </a:spcAft>
            </a:pPr>
            <a:r>
              <a:rPr sz="1500">
                <a:solidFill>
                  <a:srgbClr val="C9D6E3"/>
                </a:solidFill>
                <a:latin typeface="Calibri"/>
              </a:rPr>
              <a:t>•  Redis-backed rate limiting/caching and Sentry-equivalent error tracking are architecturally ready but blocked purely on credentials this project doesn't have.</a:t>
            </a:r>
          </a:p>
        </p:txBody>
      </p:sp>
      <p:sp>
        <p:nvSpPr>
          <p:cNvPr id="6" name="TextBox 5"/>
          <p:cNvSpPr txBox="1"/>
          <p:nvPr/>
        </p:nvSpPr>
        <p:spPr>
          <a:xfrm>
            <a:off x="640080" y="6492240"/>
            <a:ext cx="5486400" cy="274320"/>
          </a:xfrm>
          <a:prstGeom prst="rect">
            <a:avLst/>
          </a:prstGeom>
          <a:noFill/>
        </p:spPr>
        <p:txBody>
          <a:bodyPr wrap="square">
            <a:spAutoFit/>
          </a:bodyPr>
          <a:lstStyle/>
          <a:p>
            <a:pPr algn="l"/>
            <a:r>
              <a:rPr sz="1000" b="0" i="0">
                <a:solidFill>
                  <a:srgbClr val="6E829C"/>
                </a:solidFill>
                <a:latin typeface="Calibri"/>
              </a:rPr>
              <a:t>ClearSignal — LymeX Innovation Accelerator (HHS OASH / NIH ORWH)</a:t>
            </a:r>
          </a:p>
        </p:txBody>
      </p:sp>
      <p:sp>
        <p:nvSpPr>
          <p:cNvPr id="7" name="TextBox 6"/>
          <p:cNvSpPr txBox="1"/>
          <p:nvPr/>
        </p:nvSpPr>
        <p:spPr>
          <a:xfrm>
            <a:off x="11247120" y="6492240"/>
            <a:ext cx="548640" cy="274320"/>
          </a:xfrm>
          <a:prstGeom prst="rect">
            <a:avLst/>
          </a:prstGeom>
          <a:noFill/>
        </p:spPr>
        <p:txBody>
          <a:bodyPr wrap="square">
            <a:spAutoFit/>
          </a:bodyPr>
          <a:lstStyle/>
          <a:p>
            <a:pPr algn="r"/>
            <a:r>
              <a:rPr sz="1000" b="0" i="0">
                <a:solidFill>
                  <a:srgbClr val="6E829C"/>
                </a:solidFill>
                <a:latin typeface="Calibri"/>
              </a:rPr>
              <a:t>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Rounded Rectangle 1"/>
          <p:cNvSpPr/>
          <p:nvPr/>
        </p:nvSpPr>
        <p:spPr>
          <a:xfrm>
            <a:off x="-914400" y="-914400"/>
            <a:ext cx="13990320" cy="8686800"/>
          </a:xfrm>
          <a:prstGeom prst="roundRect">
            <a:avLst/>
          </a:prstGeom>
          <a:solidFill>
            <a:srgbClr val="0B1F3A"/>
          </a:solidFill>
          <a:ln w="12700">
            <a:solidFill>
              <a:srgbClr val="0B1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377440"/>
            <a:ext cx="9144000" cy="1097280"/>
          </a:xfrm>
          <a:prstGeom prst="rect">
            <a:avLst/>
          </a:prstGeom>
          <a:noFill/>
        </p:spPr>
        <p:txBody>
          <a:bodyPr wrap="square">
            <a:spAutoFit/>
          </a:bodyPr>
          <a:lstStyle/>
          <a:p>
            <a:pPr algn="l"/>
            <a:r>
              <a:rPr sz="5400" b="1" i="0">
                <a:solidFill>
                  <a:srgbClr val="FFFFFF"/>
                </a:solidFill>
                <a:latin typeface="Calibri"/>
              </a:rPr>
              <a:t>Thank you.</a:t>
            </a:r>
          </a:p>
        </p:txBody>
      </p:sp>
      <p:sp>
        <p:nvSpPr>
          <p:cNvPr id="4" name="TextBox 3"/>
          <p:cNvSpPr txBox="1"/>
          <p:nvPr/>
        </p:nvSpPr>
        <p:spPr>
          <a:xfrm>
            <a:off x="822960" y="3566160"/>
            <a:ext cx="9601200" cy="548640"/>
          </a:xfrm>
          <a:prstGeom prst="rect">
            <a:avLst/>
          </a:prstGeom>
          <a:noFill/>
        </p:spPr>
        <p:txBody>
          <a:bodyPr wrap="square">
            <a:spAutoFit/>
          </a:bodyPr>
          <a:lstStyle/>
          <a:p>
            <a:pPr algn="l"/>
            <a:r>
              <a:rPr sz="2200" b="0" i="0">
                <a:solidFill>
                  <a:srgbClr val="2DB49E"/>
                </a:solidFill>
                <a:latin typeface="Calibri"/>
              </a:rPr>
              <a:t>Questions?</a:t>
            </a:r>
          </a:p>
        </p:txBody>
      </p:sp>
      <p:sp>
        <p:nvSpPr>
          <p:cNvPr id="5" name="TextBox 4"/>
          <p:cNvSpPr txBox="1"/>
          <p:nvPr/>
        </p:nvSpPr>
        <p:spPr>
          <a:xfrm>
            <a:off x="822960" y="4480560"/>
            <a:ext cx="8229600" cy="1828800"/>
          </a:xfrm>
          <a:prstGeom prst="rect">
            <a:avLst/>
          </a:prstGeom>
          <a:noFill/>
        </p:spPr>
        <p:txBody>
          <a:bodyPr wrap="square">
            <a:spAutoFit/>
          </a:bodyPr>
          <a:lstStyle/>
          <a:p>
            <a:pPr>
              <a:spcAft>
                <a:spcPts val="1000"/>
              </a:spcAft>
            </a:pPr>
            <a:r>
              <a:rPr sz="1600">
                <a:solidFill>
                  <a:srgbClr val="C9D6E3"/>
                </a:solidFill>
                <a:latin typeface="Calibri"/>
              </a:rPr>
              <a:t>•  Live app — healwithaura.netlify.app/chat</a:t>
            </a:r>
          </a:p>
          <a:p>
            <a:pPr>
              <a:spcAft>
                <a:spcPts val="1000"/>
              </a:spcAft>
            </a:pPr>
            <a:r>
              <a:rPr sz="1600">
                <a:solidFill>
                  <a:srgbClr val="C9D6E3"/>
                </a:solidFill>
                <a:latin typeface="Calibri"/>
              </a:rPr>
              <a:t>•  Demo video — youtu.be/HF35uvYdDJ8</a:t>
            </a:r>
          </a:p>
          <a:p>
            <a:pPr>
              <a:spcAft>
                <a:spcPts val="1000"/>
              </a:spcAft>
            </a:pPr>
            <a:r>
              <a:rPr sz="1600">
                <a:solidFill>
                  <a:srgbClr val="C9D6E3"/>
                </a:solidFill>
                <a:latin typeface="Calibri"/>
              </a:rPr>
              <a:t>•  Repository — github.com/FAU-AI-HootCamp-Summer-2026/buildphase-Raj102002</a:t>
            </a:r>
          </a:p>
          <a:p>
            <a:pPr>
              <a:spcAft>
                <a:spcPts val="1000"/>
              </a:spcAft>
            </a:pPr>
            <a:r>
              <a:rPr sz="1600">
                <a:solidFill>
                  <a:srgbClr val="C9D6E3"/>
                </a:solidFill>
                <a:latin typeface="Calibri"/>
              </a:rPr>
              <a:t>•  Rajamanendra Surisetty  ·  rsurisetty2025@fau.edu</a:t>
            </a:r>
          </a:p>
        </p:txBody>
      </p:sp>
      <p:sp>
        <p:nvSpPr>
          <p:cNvPr id="6" name="Rectangle 5"/>
          <p:cNvSpPr/>
          <p:nvPr/>
        </p:nvSpPr>
        <p:spPr>
          <a:xfrm>
            <a:off x="822960" y="2194560"/>
            <a:ext cx="1463040" cy="41148"/>
          </a:xfrm>
          <a:prstGeom prst="rect">
            <a:avLst/>
          </a:prstGeom>
          <a:solidFill>
            <a:srgbClr val="2DB4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9144000" cy="457200"/>
          </a:xfrm>
          <a:prstGeom prst="rect">
            <a:avLst/>
          </a:prstGeom>
          <a:noFill/>
        </p:spPr>
        <p:txBody>
          <a:bodyPr wrap="square">
            <a:spAutoFit/>
          </a:bodyPr>
          <a:lstStyle/>
          <a:p>
            <a:pPr algn="l"/>
            <a:r>
              <a:rPr sz="1400" b="1" i="0">
                <a:solidFill>
                  <a:srgbClr val="2DB49E"/>
                </a:solidFill>
                <a:latin typeface="Calibri"/>
              </a:rPr>
              <a:t>THE BRIEF</a:t>
            </a:r>
          </a:p>
        </p:txBody>
      </p:sp>
      <p:sp>
        <p:nvSpPr>
          <p:cNvPr id="3" name="TextBox 2"/>
          <p:cNvSpPr txBox="1"/>
          <p:nvPr/>
        </p:nvSpPr>
        <p:spPr>
          <a:xfrm>
            <a:off x="640080" y="685800"/>
            <a:ext cx="10881360" cy="914400"/>
          </a:xfrm>
          <a:prstGeom prst="rect">
            <a:avLst/>
          </a:prstGeom>
          <a:noFill/>
        </p:spPr>
        <p:txBody>
          <a:bodyPr wrap="square">
            <a:spAutoFit/>
          </a:bodyPr>
          <a:lstStyle/>
          <a:p>
            <a:pPr algn="l"/>
            <a:r>
              <a:rPr sz="3200" b="1" i="0">
                <a:solidFill>
                  <a:srgbClr val="FFFFFF"/>
                </a:solidFill>
                <a:latin typeface="Calibri"/>
              </a:rPr>
              <a:t>TOPx HHS Tech Sprint for AI and Invisible Illness — the brief we're answering</a:t>
            </a:r>
          </a:p>
        </p:txBody>
      </p:sp>
      <p:cxnSp>
        <p:nvCxnSpPr>
          <p:cNvPr id="4" name="Connector 3"/>
          <p:cNvCxnSpPr/>
          <p:nvPr/>
        </p:nvCxnSpPr>
        <p:spPr>
          <a:xfrm>
            <a:off x="640080" y="1417320"/>
            <a:ext cx="10881360" cy="0"/>
          </a:xfrm>
          <a:prstGeom prst="line">
            <a:avLst/>
          </a:prstGeom>
          <a:ln w="19050">
            <a:solidFill>
              <a:srgbClr val="1B6E61"/>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40080" y="1828800"/>
            <a:ext cx="3520440" cy="402336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57400"/>
            <a:ext cx="3063240" cy="548640"/>
          </a:xfrm>
          <a:prstGeom prst="rect">
            <a:avLst/>
          </a:prstGeom>
          <a:noFill/>
        </p:spPr>
        <p:txBody>
          <a:bodyPr wrap="square">
            <a:spAutoFit/>
          </a:bodyPr>
          <a:lstStyle/>
          <a:p>
            <a:pPr algn="l"/>
            <a:r>
              <a:rPr sz="1800" b="1" i="0">
                <a:solidFill>
                  <a:srgbClr val="2DB49E"/>
                </a:solidFill>
                <a:latin typeface="Calibri"/>
              </a:rPr>
              <a:t>Sponsor &amp; category</a:t>
            </a:r>
          </a:p>
        </p:txBody>
      </p:sp>
      <p:sp>
        <p:nvSpPr>
          <p:cNvPr id="7" name="TextBox 6"/>
          <p:cNvSpPr txBox="1"/>
          <p:nvPr/>
        </p:nvSpPr>
        <p:spPr>
          <a:xfrm>
            <a:off x="868680" y="2606040"/>
            <a:ext cx="3063240" cy="3017520"/>
          </a:xfrm>
          <a:prstGeom prst="rect">
            <a:avLst/>
          </a:prstGeom>
          <a:noFill/>
        </p:spPr>
        <p:txBody>
          <a:bodyPr wrap="square">
            <a:spAutoFit/>
          </a:bodyPr>
          <a:lstStyle/>
          <a:p>
            <a:pPr algn="l"/>
            <a:r>
              <a:rPr sz="1450" b="0" i="0">
                <a:solidFill>
                  <a:srgbClr val="C9D6E3"/>
                </a:solidFill>
                <a:latin typeface="Calibri"/>
              </a:rPr>
              <a:t>HHS OASH via the LymeX Innovation Accelerator (with NIH ORWH) — Category Lead problem, Phase 2 sprint: Jul 15–Oct 15, 2026.</a:t>
            </a:r>
          </a:p>
        </p:txBody>
      </p:sp>
      <p:sp>
        <p:nvSpPr>
          <p:cNvPr id="8" name="Rounded Rectangle 7"/>
          <p:cNvSpPr/>
          <p:nvPr/>
        </p:nvSpPr>
        <p:spPr>
          <a:xfrm>
            <a:off x="4343400" y="1828800"/>
            <a:ext cx="3520440" cy="402336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2057400"/>
            <a:ext cx="3063240" cy="548640"/>
          </a:xfrm>
          <a:prstGeom prst="rect">
            <a:avLst/>
          </a:prstGeom>
          <a:noFill/>
        </p:spPr>
        <p:txBody>
          <a:bodyPr wrap="square">
            <a:spAutoFit/>
          </a:bodyPr>
          <a:lstStyle/>
          <a:p>
            <a:pPr algn="l"/>
            <a:r>
              <a:rPr sz="1800" b="1" i="0">
                <a:solidFill>
                  <a:srgbClr val="2DB49E"/>
                </a:solidFill>
                <a:latin typeface="Calibri"/>
              </a:rPr>
              <a:t>Problem, as stated</a:t>
            </a:r>
          </a:p>
        </p:txBody>
      </p:sp>
      <p:sp>
        <p:nvSpPr>
          <p:cNvPr id="10" name="TextBox 9"/>
          <p:cNvSpPr txBox="1"/>
          <p:nvPr/>
        </p:nvSpPr>
        <p:spPr>
          <a:xfrm>
            <a:off x="4572000" y="2606040"/>
            <a:ext cx="3063240" cy="3017520"/>
          </a:xfrm>
          <a:prstGeom prst="rect">
            <a:avLst/>
          </a:prstGeom>
          <a:noFill/>
        </p:spPr>
        <p:txBody>
          <a:bodyPr wrap="square">
            <a:spAutoFit/>
          </a:bodyPr>
          <a:lstStyle/>
          <a:p>
            <a:pPr algn="l"/>
            <a:r>
              <a:rPr sz="1450" b="0" i="0">
                <a:solidFill>
                  <a:srgbClr val="C9D6E3"/>
                </a:solidFill>
                <a:latin typeface="Calibri"/>
              </a:rPr>
              <a:t>Use federal open data to help Lyme and invisible-illness patients get diagnosis and care faster — e.g. a symptom-to-resource navigator or symptom organizer.</a:t>
            </a:r>
          </a:p>
        </p:txBody>
      </p:sp>
      <p:sp>
        <p:nvSpPr>
          <p:cNvPr id="11" name="Rounded Rectangle 10"/>
          <p:cNvSpPr/>
          <p:nvPr/>
        </p:nvSpPr>
        <p:spPr>
          <a:xfrm>
            <a:off x="8046720" y="1828800"/>
            <a:ext cx="3520440" cy="4023360"/>
          </a:xfrm>
          <a:prstGeom prst="roundRect">
            <a:avLst/>
          </a:prstGeom>
          <a:solidFill>
            <a:srgbClr val="132A4A"/>
          </a:solidFill>
          <a:ln w="12700">
            <a:solidFill>
              <a:srgbClr val="1B6E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20" y="2057400"/>
            <a:ext cx="3063240" cy="548640"/>
          </a:xfrm>
          <a:prstGeom prst="rect">
            <a:avLst/>
          </a:prstGeom>
          <a:noFill/>
        </p:spPr>
        <p:txBody>
          <a:bodyPr wrap="square">
            <a:spAutoFit/>
          </a:bodyPr>
          <a:lstStyle/>
          <a:p>
            <a:pPr algn="l"/>
            <a:r>
              <a:rPr sz="1800" b="1" i="0">
                <a:solidFill>
                  <a:srgbClr val="2DB49E"/>
                </a:solidFill>
                <a:latin typeface="Calibri"/>
              </a:rPr>
              <a:t>Goals &amp; constraint</a:t>
            </a:r>
          </a:p>
        </p:txBody>
      </p:sp>
      <p:sp>
        <p:nvSpPr>
          <p:cNvPr id="13" name="TextBox 12"/>
          <p:cNvSpPr txBox="1"/>
          <p:nvPr/>
        </p:nvSpPr>
        <p:spPr>
          <a:xfrm>
            <a:off x="8275320" y="2606040"/>
            <a:ext cx="3063240" cy="3017520"/>
          </a:xfrm>
          <a:prstGeom prst="rect">
            <a:avLst/>
          </a:prstGeom>
          <a:noFill/>
        </p:spPr>
        <p:txBody>
          <a:bodyPr wrap="square">
            <a:spAutoFit/>
          </a:bodyPr>
          <a:lstStyle/>
          <a:p>
            <a:pPr algn="l"/>
            <a:r>
              <a:rPr sz="1450" b="0" i="0">
                <a:solidFill>
                  <a:srgbClr val="C9D6E3"/>
                </a:solidFill>
                <a:latin typeface="Calibri"/>
              </a:rPr>
              <a:t>Retrieval over HHS/CDC data, source citations, uncertainty labels — never free-form diagnosis. Sensitive health domain.</a:t>
            </a:r>
          </a:p>
        </p:txBody>
      </p:sp>
      <p:sp>
        <p:nvSpPr>
          <p:cNvPr id="14" name="TextBox 13"/>
          <p:cNvSpPr txBox="1"/>
          <p:nvPr/>
        </p:nvSpPr>
        <p:spPr>
          <a:xfrm>
            <a:off x="640080" y="6492240"/>
            <a:ext cx="5486400" cy="274320"/>
          </a:xfrm>
          <a:prstGeom prst="rect">
            <a:avLst/>
          </a:prstGeom>
          <a:noFill/>
        </p:spPr>
        <p:txBody>
          <a:bodyPr wrap="square">
            <a:spAutoFit/>
          </a:bodyPr>
          <a:lstStyle/>
          <a:p>
            <a:pPr algn="l"/>
            <a:r>
              <a:rPr sz="1000" b="0" i="0">
                <a:solidFill>
                  <a:srgbClr val="6E829C"/>
                </a:solidFill>
                <a:latin typeface="Calibri"/>
              </a:rPr>
              <a:t>ClearSignal — LymeX Innovation Accelerator (HHS OASH / NIH ORWH)</a:t>
            </a:r>
          </a:p>
        </p:txBody>
      </p:sp>
      <p:sp>
        <p:nvSpPr>
          <p:cNvPr id="15" name="TextBox 14"/>
          <p:cNvSpPr txBox="1"/>
          <p:nvPr/>
        </p:nvSpPr>
        <p:spPr>
          <a:xfrm>
            <a:off x="11247120" y="6492240"/>
            <a:ext cx="548640" cy="274320"/>
          </a:xfrm>
          <a:prstGeom prst="rect">
            <a:avLst/>
          </a:prstGeom>
          <a:noFill/>
        </p:spPr>
        <p:txBody>
          <a:bodyPr wrap="square">
            <a:spAutoFit/>
          </a:bodyPr>
          <a:lstStyle/>
          <a:p>
            <a:pPr algn="r"/>
            <a:r>
              <a:rPr sz="1000" b="0" i="0">
                <a:solidFill>
                  <a:srgbClr val="6E829C"/>
                </a:solidFill>
                <a:latin typeface="Calibri"/>
              </a:rPr>
              <a:t>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9144000" cy="457200"/>
          </a:xfrm>
          <a:prstGeom prst="rect">
            <a:avLst/>
          </a:prstGeom>
          <a:noFill/>
        </p:spPr>
        <p:txBody>
          <a:bodyPr wrap="square">
            <a:spAutoFit/>
          </a:bodyPr>
          <a:lstStyle/>
          <a:p>
            <a:pPr algn="l"/>
            <a:r>
              <a:rPr sz="1400" b="1" i="0">
                <a:solidFill>
                  <a:srgbClr val="2DB49E"/>
                </a:solidFill>
                <a:latin typeface="Calibri"/>
              </a:rPr>
              <a:t>DOES THIS MATCH THE BRIEF?</a:t>
            </a:r>
          </a:p>
        </p:txBody>
      </p:sp>
      <p:sp>
        <p:nvSpPr>
          <p:cNvPr id="3" name="TextBox 2"/>
          <p:cNvSpPr txBox="1"/>
          <p:nvPr/>
        </p:nvSpPr>
        <p:spPr>
          <a:xfrm>
            <a:off x="640080" y="685800"/>
            <a:ext cx="10881360" cy="914400"/>
          </a:xfrm>
          <a:prstGeom prst="rect">
            <a:avLst/>
          </a:prstGeom>
          <a:noFill/>
        </p:spPr>
        <p:txBody>
          <a:bodyPr wrap="square">
            <a:spAutoFit/>
          </a:bodyPr>
          <a:lstStyle/>
          <a:p>
            <a:pPr algn="l"/>
            <a:r>
              <a:rPr sz="2800" b="1" i="0">
                <a:solidFill>
                  <a:srgbClr val="FFFFFF"/>
                </a:solidFill>
                <a:latin typeface="Calibri"/>
              </a:rPr>
              <a:t>Yes — every requirement in the brief maps to a shipped, verified feature</a:t>
            </a:r>
          </a:p>
        </p:txBody>
      </p:sp>
      <p:cxnSp>
        <p:nvCxnSpPr>
          <p:cNvPr id="4" name="Connector 3"/>
          <p:cNvCxnSpPr/>
          <p:nvPr/>
        </p:nvCxnSpPr>
        <p:spPr>
          <a:xfrm>
            <a:off x="640080" y="1417320"/>
            <a:ext cx="10881360" cy="0"/>
          </a:xfrm>
          <a:prstGeom prst="line">
            <a:avLst/>
          </a:prstGeom>
          <a:ln w="19050">
            <a:solidFill>
              <a:srgbClr val="1B6E61"/>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640080" y="1783080"/>
            <a:ext cx="10881360" cy="420624"/>
          </a:xfrm>
          <a:prstGeom prst="rect">
            <a:avLst/>
          </a:prstGeom>
          <a:solidFill>
            <a:srgbClr val="132A4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b="1" sz="1300">
                <a:solidFill>
                  <a:srgbClr val="2DB49E"/>
                </a:solidFill>
              </a:rPr>
              <a:t>  Open data source</a:t>
            </a:r>
            <a:r>
              <a:rPr sz="1300">
                <a:solidFill>
                  <a:srgbClr val="C9D6E3"/>
                </a:solidFill>
              </a:rPr>
              <a:t>    —    CDC Lyme surveillance + educational corpus, ingested &amp; embedded via the hhs-rag pipeline</a:t>
            </a:r>
          </a:p>
        </p:txBody>
      </p:sp>
      <p:sp>
        <p:nvSpPr>
          <p:cNvPr id="6" name="Rectangle 5"/>
          <p:cNvSpPr/>
          <p:nvPr/>
        </p:nvSpPr>
        <p:spPr>
          <a:xfrm>
            <a:off x="640080" y="2485339"/>
            <a:ext cx="10881360" cy="420624"/>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b="1" sz="1300">
                <a:solidFill>
                  <a:srgbClr val="2DB49E"/>
                </a:solidFill>
              </a:rPr>
              <a:t>  Symptom navigator</a:t>
            </a:r>
            <a:r>
              <a:rPr sz="1300">
                <a:solidFill>
                  <a:srgbClr val="C9D6E3"/>
                </a:solidFill>
              </a:rPr>
              <a:t>    —    Journal + function log, timeline anchors, exposure reconstruction, agentic “Ask Your Journal” assistant</a:t>
            </a:r>
          </a:p>
        </p:txBody>
      </p:sp>
      <p:sp>
        <p:nvSpPr>
          <p:cNvPr id="7" name="Rectangle 6"/>
          <p:cNvSpPr/>
          <p:nvPr/>
        </p:nvSpPr>
        <p:spPr>
          <a:xfrm>
            <a:off x="640080" y="3187598"/>
            <a:ext cx="10881360" cy="420624"/>
          </a:xfrm>
          <a:prstGeom prst="rect">
            <a:avLst/>
          </a:prstGeom>
          <a:solidFill>
            <a:srgbClr val="132A4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b="1" sz="1300">
                <a:solidFill>
                  <a:srgbClr val="2DB49E"/>
                </a:solidFill>
              </a:rPr>
              <a:t>  Retrieval for patient Qs</a:t>
            </a:r>
            <a:r>
              <a:rPr sz="1300">
                <a:solidFill>
                  <a:srgbClr val="C9D6E3"/>
                </a:solidFill>
              </a:rPr>
              <a:t>    —    Hybrid RAG chat — dense + BM25, fused (RRF), LLM-reranked, always cites a source</a:t>
            </a:r>
          </a:p>
        </p:txBody>
      </p:sp>
      <p:sp>
        <p:nvSpPr>
          <p:cNvPr id="8" name="Rectangle 7"/>
          <p:cNvSpPr/>
          <p:nvPr/>
        </p:nvSpPr>
        <p:spPr>
          <a:xfrm>
            <a:off x="640080" y="3889857"/>
            <a:ext cx="10881360" cy="420624"/>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b="1" sz="1300">
                <a:solidFill>
                  <a:srgbClr val="2DB49E"/>
                </a:solidFill>
              </a:rPr>
              <a:t>  Surface clinicians</a:t>
            </a:r>
            <a:r>
              <a:rPr sz="1300">
                <a:solidFill>
                  <a:srgbClr val="C9D6E3"/>
                </a:solidFill>
              </a:rPr>
              <a:t>    —    /providers — NPPES + ClinicalTrials.gov lookup by specialty and location</a:t>
            </a:r>
          </a:p>
        </p:txBody>
      </p:sp>
      <p:sp>
        <p:nvSpPr>
          <p:cNvPr id="9" name="Rectangle 8"/>
          <p:cNvSpPr/>
          <p:nvPr/>
        </p:nvSpPr>
        <p:spPr>
          <a:xfrm>
            <a:off x="640080" y="4592116"/>
            <a:ext cx="10881360" cy="420624"/>
          </a:xfrm>
          <a:prstGeom prst="rect">
            <a:avLst/>
          </a:prstGeom>
          <a:solidFill>
            <a:srgbClr val="132A4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b="1" sz="1300">
                <a:solidFill>
                  <a:srgbClr val="2DB49E"/>
                </a:solidFill>
              </a:rPr>
              <a:t>  Citations + uncertainty</a:t>
            </a:r>
            <a:r>
              <a:rPr sz="1300">
                <a:solidFill>
                  <a:srgbClr val="C9D6E3"/>
                </a:solidFill>
              </a:rPr>
              <a:t>    —    Every answer cited or says “I don't know”; negative-test contextualizer explains uncertainty vs. real CDC timing data</a:t>
            </a:r>
          </a:p>
        </p:txBody>
      </p:sp>
      <p:sp>
        <p:nvSpPr>
          <p:cNvPr id="10" name="Rectangle 9"/>
          <p:cNvSpPr/>
          <p:nvPr/>
        </p:nvSpPr>
        <p:spPr>
          <a:xfrm>
            <a:off x="640080" y="5294375"/>
            <a:ext cx="10881360" cy="420624"/>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b="1" sz="1300">
                <a:solidFill>
                  <a:srgbClr val="2DB49E"/>
                </a:solidFill>
              </a:rPr>
              <a:t>  Never free-form diagnosis</a:t>
            </a:r>
            <a:r>
              <a:rPr sz="1300">
                <a:solidFill>
                  <a:srgbClr val="C9D6E3"/>
                </a:solidFill>
              </a:rPr>
              <a:t>    —    Deterministic red-flag layer + system-prompt guardrails — verified live to deflect diagnosis-baiting input to a clinician</a:t>
            </a:r>
          </a:p>
        </p:txBody>
      </p:sp>
      <p:sp>
        <p:nvSpPr>
          <p:cNvPr id="14" name="TextBox 13"/>
          <p:cNvSpPr txBox="1"/>
          <p:nvPr/>
        </p:nvSpPr>
        <p:spPr>
          <a:xfrm>
            <a:off x="640080" y="6492240"/>
            <a:ext cx="5486400" cy="274320"/>
          </a:xfrm>
          <a:prstGeom prst="rect">
            <a:avLst/>
          </a:prstGeom>
          <a:noFill/>
        </p:spPr>
        <p:txBody>
          <a:bodyPr wrap="square">
            <a:spAutoFit/>
          </a:bodyPr>
          <a:lstStyle/>
          <a:p>
            <a:pPr algn="l"/>
            <a:r>
              <a:rPr sz="1000" b="0" i="0">
                <a:solidFill>
                  <a:srgbClr val="6E829C"/>
                </a:solidFill>
                <a:latin typeface="Calibri"/>
              </a:rPr>
              <a:t>ClearSignal — LymeX Innovation Accelerator (HHS OASH / NIH ORWH)</a:t>
            </a:r>
          </a:p>
        </p:txBody>
      </p:sp>
      <p:sp>
        <p:nvSpPr>
          <p:cNvPr id="15" name="TextBox 14"/>
          <p:cNvSpPr txBox="1"/>
          <p:nvPr/>
        </p:nvSpPr>
        <p:spPr>
          <a:xfrm>
            <a:off x="11247120" y="6492240"/>
            <a:ext cx="548640" cy="274320"/>
          </a:xfrm>
          <a:prstGeom prst="rect">
            <a:avLst/>
          </a:prstGeom>
          <a:noFill/>
        </p:spPr>
        <p:txBody>
          <a:bodyPr wrap="square">
            <a:spAutoFit/>
          </a:bodyPr>
          <a:lstStyle/>
          <a:p>
            <a:pPr algn="r"/>
            <a:r>
              <a:rPr sz="1000" b="0" i="0">
                <a:solidFill>
                  <a:srgbClr val="6E829C"/>
                </a:solidFill>
                <a:latin typeface="Calibri"/>
              </a:rPr>
              <a:t>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