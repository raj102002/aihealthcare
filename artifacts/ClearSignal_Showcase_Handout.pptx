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417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ClearSignal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2DB49E"/>
                </a:solidFill>
                <a:latin typeface="Calibri"/>
              </a:rPr>
              <a:t>AI-assisted diagnostic support for Lyme disease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9C7D6"/>
                </a:solidFill>
                <a:latin typeface="Calibri"/>
              </a:rPr>
              <a:t>LymeX Innovation Accelerator  ·  HHS OASH / NIH ORWH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36192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1E2B"/>
                </a:solidFill>
                <a:latin typeface="Calibri"/>
              </a:rPr>
              <a:t>Rajamanendra Surisetty   ·   rsurisetty2025@fau.edu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55366"/>
                </a:solidFill>
                <a:latin typeface="Calibri"/>
              </a:rPr>
              <a:t>Live app: healwithaura.netlify.app/chat   ·   Repo: FAU-AI-HootCamp-Summer-2026/buildphase-Raj102002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2121408"/>
            <a:ext cx="6858000" cy="0"/>
          </a:xfrm>
          <a:prstGeom prst="line">
            <a:avLst/>
          </a:prstGeom>
          <a:ln w="12700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2240280"/>
            <a:ext cx="6858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B6E61"/>
                </a:solidFill>
                <a:latin typeface="Calibri"/>
              </a:rP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14600"/>
            <a:ext cx="6858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55366"/>
                </a:solidFill>
                <a:latin typeface="Calibri"/>
              </a:rPr>
              <a:t>Early Lyme serology is only ~22–36% sensitive — negative tests anchor clinicians away from the right diagnosis, and no chart captures the exposure/symptom timeline that matters instead.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46120"/>
            <a:ext cx="6858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B6E61"/>
                </a:solidFill>
                <a:latin typeface="Calibri"/>
              </a:rPr>
              <a:t>WHAT IT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2044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55366"/>
                </a:solidFill>
                <a:latin typeface="Calibri"/>
              </a:rPr>
              <a:t>A hybrid RAG chat grounded in CDC data, a symptom/function journal that captures good days (not just bad ones), timeline anchors and exposure reconstruction, and an AI-generated one-page clinician handoff — all under a deterministic safety layer that never diagnoses.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34840"/>
            <a:ext cx="6858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B6E61"/>
                </a:solidFill>
                <a:latin typeface="Calibri"/>
              </a:rPr>
              <a:t>WHO IT SERVES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70916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55366"/>
                </a:solidFill>
                <a:latin typeface="Calibri"/>
              </a:rPr>
              <a:t>Patients with undiagnosed/recent Lyme (disproportionately women whose symptoms get dismissed) and the clinicians who see them; evaluated by HHS OASH / LymeX / NIH ORWH.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7200" y="5349240"/>
            <a:ext cx="6858000" cy="0"/>
          </a:xfrm>
          <a:prstGeom prst="line">
            <a:avLst/>
          </a:prstGeom>
          <a:ln w="12700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7200" y="5468112"/>
            <a:ext cx="6858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B6E61"/>
                </a:solidFill>
                <a:latin typeface="Calibri"/>
              </a:rPr>
              <a:t>KEY FEATURES / AI CAPABILITIES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760720"/>
            <a:ext cx="3657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>
                <a:solidFill>
                  <a:srgbClr val="455366"/>
                </a:solidFill>
              </a:rPr>
              <a:t>•  Hybrid RAG (dense + BM25 + RRF + LLM rerank), hard relevance floor — says “I don't know” instead of guessing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455366"/>
                </a:solidFill>
              </a:rPr>
              <a:t>•  Agentic journal assistant: 6-tool Groq tool-calling loop that computes real trend slopes from logged data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455366"/>
                </a:solidFill>
              </a:rPr>
              <a:t>•  Deterministic red-flag detector: 100% escalation recall, 0% false positives on the gold set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455366"/>
                </a:solidFill>
              </a:rPr>
              <a:t>•  AI clinician handoff generator with a deterministic fallback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455366"/>
                </a:solidFill>
              </a:rPr>
              <a:t>•  Negative-test contextualizer using real CDC timing data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455366"/>
                </a:solidFill>
              </a:rPr>
              <a:t>•  Voice input/output (Groq Whisper + TTS)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5760720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B6E61"/>
                </a:solidFill>
                <a:latin typeface="Calibri"/>
              </a:rPr>
              <a:t>STATUS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6053328"/>
            <a:ext cx="3063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30" b="1">
                <a:solidFill>
                  <a:srgbClr val="161E2B"/>
                </a:solidFill>
              </a:rPr>
              <a:t>•  Complete:  </a:t>
            </a:r>
            <a:r>
              <a:rPr sz="930">
                <a:solidFill>
                  <a:srgbClr val="455366"/>
                </a:solidFill>
              </a:rPr>
              <a:t>hybrid RAG chat, 7-class journal w/ ACLs, voice, handoff generator, journal agent, Docker verified, observability dashboard, caching, rate limiting + validation, security audit, live on Netlify.</a:t>
            </a:r>
          </a:p>
          <a:p>
            <a:pPr>
              <a:spcAft>
                <a:spcPts val="600"/>
              </a:spcAft>
            </a:pPr>
            <a:r>
              <a:rPr sz="930" b="1">
                <a:solidFill>
                  <a:srgbClr val="161E2B"/>
                </a:solidFill>
              </a:rPr>
              <a:t>•  In progress:  </a:t>
            </a:r>
            <a:r>
              <a:rPr sz="930">
                <a:solidFill>
                  <a:srgbClr val="455366"/>
                </a:solidFill>
              </a:rPr>
              <a:t>eval-driven quality pass — reading level (9.4 → 6–8th grade target), expanding the gold eval set.</a:t>
            </a:r>
          </a:p>
          <a:p>
            <a:pPr>
              <a:spcAft>
                <a:spcPts val="600"/>
              </a:spcAft>
            </a:pPr>
            <a:r>
              <a:rPr sz="930" b="1">
                <a:solidFill>
                  <a:srgbClr val="161E2B"/>
                </a:solidFill>
              </a:rPr>
              <a:t>•  Pending:  </a:t>
            </a:r>
            <a:r>
              <a:rPr sz="930">
                <a:solidFill>
                  <a:srgbClr val="455366"/>
                </a:solidFill>
              </a:rPr>
              <a:t>Pet Sentinel, Treatment-Response Window, QLoRA fine-tune of MedGemma.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7200" y="8732520"/>
            <a:ext cx="6858000" cy="0"/>
          </a:xfrm>
          <a:prstGeom prst="line">
            <a:avLst/>
          </a:prstGeom>
          <a:ln w="12700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57200" y="8851392"/>
            <a:ext cx="6858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B6E61"/>
                </a:solidFill>
                <a:latin typeface="Calibri"/>
              </a:rPr>
              <a:t>SHOWCASE READINESS &amp; PARTICIPATION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914400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 i="0">
                <a:solidFill>
                  <a:srgbClr val="455366"/>
                </a:solidFill>
                <a:latin typeface="Calibri"/>
              </a:rPr>
              <a:t>Can demo live today at healwithaura.netlify.app — chat, journal, AI journal agent, handoff generation, admin dashboard. Backup: app is cloud-hosted, so venue Wi-Fi issues affect only the presenter; a recorded walkthrough is ready as fallback. Participating live Friday Aug 28, 1–3 PM — no accommodations needed.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