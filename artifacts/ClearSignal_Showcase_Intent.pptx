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ClearSignal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2"/>
                </a:solidFill>
                <a:latin typeface="Calibri"/>
              </a:rPr>
              <a:t>AI-assisted diagnostic support for Lyme disease  |  LymeX Innovation Accelerator (HHS OASH / NIH ORWH)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28016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Rajamanendra Surisetty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402336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Aft>
                <a:spcPts val="200"/>
              </a:spcAft>
            </a:pPr>
            <a:r>
              <a:rPr sz="1150" b="0">
                <a:solidFill>
                  <a:srgbClr val="C9D6E2"/>
                </a:solidFill>
                <a:latin typeface="Calibri"/>
              </a:rPr>
              <a:t>rsurisetty2025@fau.edu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64008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spcAft>
                <a:spcPts val="200"/>
              </a:spcAft>
            </a:pPr>
            <a:r>
              <a:rPr sz="1100" b="0">
                <a:solidFill>
                  <a:srgbClr val="9FD8DA"/>
                </a:solidFill>
                <a:latin typeface="Calibri"/>
              </a:rPr>
              <a:t>healwithaura.netlify.app/chat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3740810" cy="3246120"/>
          </a:xfrm>
          <a:prstGeom prst="rect">
            <a:avLst/>
          </a:prstGeom>
          <a:solidFill>
            <a:srgbClr val="F4F6F8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188720"/>
            <a:ext cx="344820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E767A"/>
                </a:solidFill>
                <a:latin typeface="Calibri"/>
              </a:rPr>
              <a:t>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" y="1508760"/>
            <a:ext cx="3448202" cy="26974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212121"/>
                </a:solidFill>
                <a:latin typeface="Calibri"/>
              </a:rPr>
              <a:t>Problem: </a:t>
            </a:r>
            <a:r>
              <a:rPr sz="1000" b="0">
                <a:solidFill>
                  <a:srgbClr val="212121"/>
                </a:solidFill>
                <a:latin typeface="Calibri"/>
              </a:rPr>
              <a:t>Early Lyme serology is only ~22–36% sensitive — negative tests anchor clinicians away from the right diagnosis, and no chart captures the exposure/symptom timeline that matters instead.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212121"/>
                </a:solidFill>
                <a:latin typeface="Calibri"/>
              </a:rPr>
              <a:t>What it does: </a:t>
            </a:r>
            <a:r>
              <a:rPr sz="1000" b="0">
                <a:solidFill>
                  <a:srgbClr val="212121"/>
                </a:solidFill>
                <a:latin typeface="Calibri"/>
              </a:rPr>
              <a:t>Hybrid RAG chat grounded in CDC data, a symptom/function journal (captures good days, not just bad ones), and an AI-generated one-page clinician handoff — under a safety layer that never diagnoses.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212121"/>
                </a:solidFill>
                <a:latin typeface="Calibri"/>
              </a:rPr>
              <a:t>Serves: </a:t>
            </a:r>
            <a:r>
              <a:rPr sz="1000" b="0">
                <a:solidFill>
                  <a:srgbClr val="212121"/>
                </a:solidFill>
                <a:latin typeface="Calibri"/>
              </a:rPr>
              <a:t>Patients with undiagnosed/recent Lyme (disproportionately women whose symptoms get dismissed) and the clinicians who see them; evaluated by HHS OASH / LymeX / NIH ORWH.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5442" y="1097280"/>
            <a:ext cx="3740810" cy="3246120"/>
          </a:xfrm>
          <a:prstGeom prst="rect">
            <a:avLst/>
          </a:prstGeom>
          <a:solidFill>
            <a:srgbClr val="F4F6F8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1746" y="1188720"/>
            <a:ext cx="344820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E767A"/>
                </a:solidFill>
                <a:latin typeface="Calibri"/>
              </a:rPr>
              <a:t>CURRENT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1746" y="1508760"/>
            <a:ext cx="3448202" cy="26974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1000"/>
              </a:spcAft>
            </a:pPr>
            <a:r>
              <a:rPr sz="1000" b="1">
                <a:solidFill>
                  <a:srgbClr val="1E7A34"/>
                </a:solidFill>
                <a:latin typeface="Calibri"/>
              </a:rPr>
              <a:t>Complete: </a:t>
            </a:r>
            <a:r>
              <a:rPr sz="1000" b="0">
                <a:solidFill>
                  <a:srgbClr val="212121"/>
                </a:solidFill>
                <a:latin typeface="Calibri"/>
              </a:rPr>
              <a:t>Hybrid RAG chat (dense+BM25+RRF+rerank), 7-class journal w/ ACLs, voice in/out, handoff generator, journal tool-calling agent, Docker build verified, observability dashboard, caching (2224ms→0ms), rate limiting + input validation on every AI route, security audit (11→4 vulns), live on Netlify.</a:t>
            </a:r>
          </a:p>
          <a:p>
            <a:pPr algn="l">
              <a:spcAft>
                <a:spcPts val="1000"/>
              </a:spcAft>
            </a:pPr>
            <a:r>
              <a:rPr sz="1000" b="1">
                <a:solidFill>
                  <a:srgbClr val="B56A00"/>
                </a:solidFill>
                <a:latin typeface="Calibri"/>
              </a:rPr>
              <a:t>In progress: </a:t>
            </a:r>
            <a:r>
              <a:rPr sz="1000" b="0">
                <a:solidFill>
                  <a:srgbClr val="212121"/>
                </a:solidFill>
                <a:latin typeface="Calibri"/>
              </a:rPr>
              <a:t>Eval-driven quality pass — fixing reading level (currently 9.4, target 6th–8th grade) and expanding the gold eval set.</a:t>
            </a:r>
          </a:p>
          <a:p>
            <a:pPr algn="l">
              <a:spcAft>
                <a:spcPts val="1000"/>
              </a:spcAft>
            </a:pPr>
            <a:r>
              <a:rPr sz="1000" b="1">
                <a:solidFill>
                  <a:srgbClr val="3B5A82"/>
                </a:solidFill>
                <a:latin typeface="Calibri"/>
              </a:rPr>
              <a:t>Pending: </a:t>
            </a:r>
            <a:r>
              <a:rPr sz="1000" b="0">
                <a:solidFill>
                  <a:srgbClr val="212121"/>
                </a:solidFill>
                <a:latin typeface="Calibri"/>
              </a:rPr>
              <a:t>Pet Sentinel (vet tick-screening as exposure evidence) and Treatment-Response Window (Herxheimer safety-gated detector) — specced, build next. Also planned: QLoRA fine-tuning of MedGemma on the project's clinical corpus toward a domain-specific healthcare model.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0844" y="1097280"/>
            <a:ext cx="3740810" cy="3246120"/>
          </a:xfrm>
          <a:prstGeom prst="rect">
            <a:avLst/>
          </a:prstGeom>
          <a:solidFill>
            <a:srgbClr val="F4F6F8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7148" y="1188720"/>
            <a:ext cx="344820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E767A"/>
                </a:solidFill>
                <a:latin typeface="Calibri"/>
              </a:rPr>
              <a:t>KEY FEATURES / AI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7148" y="1508760"/>
            <a:ext cx="3448202" cy="26974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212121"/>
                </a:solidFill>
                <a:latin typeface="Calibri"/>
              </a:rPr>
              <a:t>• Hybrid RAG (dense + BM25 + reciprocal-rank fusion + LLM rerank) grounded in a real CDC Lyme corpus, with a hard relevance floor — says “I don’t know” instead of guessing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212121"/>
                </a:solidFill>
                <a:latin typeface="Calibri"/>
              </a:rPr>
              <a:t>• Agentic journal assistant: Groq tool-calling loop (6 tools) that reasons over the patient's own logged data — e.g. computes real symptom trend slopes, not canned answers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212121"/>
                </a:solidFill>
                <a:latin typeface="Calibri"/>
              </a:rPr>
              <a:t>• Negative-test contextualizer using real CDC sensitivity/timing data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212121"/>
                </a:solidFill>
                <a:latin typeface="Calibri"/>
              </a:rPr>
              <a:t>• AI clinician handoff-document generator with a deterministic safety fallback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212121"/>
                </a:solidFill>
                <a:latin typeface="Calibri"/>
              </a:rPr>
              <a:t>• Deterministic red-flag detector: 100% escalation recall, 0% false positives on the gold set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212121"/>
                </a:solidFill>
                <a:latin typeface="Calibri"/>
              </a:rPr>
              <a:t>• Voice input/output (Groq Whisper + TTS)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507992"/>
            <a:ext cx="5693511" cy="2121408"/>
          </a:xfrm>
          <a:prstGeom prst="rect">
            <a:avLst/>
          </a:prstGeom>
          <a:solidFill>
            <a:srgbClr val="F4F6F8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" y="4599431"/>
            <a:ext cx="5400903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E767A"/>
                </a:solidFill>
                <a:latin typeface="Calibri"/>
              </a:rPr>
              <a:t>SHOWCASE 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" y="4919472"/>
            <a:ext cx="5400903" cy="15727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1000"/>
              </a:spcAft>
            </a:pPr>
            <a:r>
              <a:rPr sz="1000" b="1">
                <a:solidFill>
                  <a:srgbClr val="212121"/>
                </a:solidFill>
                <a:latin typeface="Calibri"/>
              </a:rPr>
              <a:t>Can demo today: </a:t>
            </a:r>
            <a:r>
              <a:rPr sz="1000" b="0">
                <a:solidFill>
                  <a:srgbClr val="212121"/>
                </a:solidFill>
                <a:latin typeface="Calibri"/>
              </a:rPr>
              <a:t>full live app — chat, symptom/function journal, AI journal agent, handoff-doc generation, admin metrics dashboard — at healwithaura.netlify.app.</a:t>
            </a:r>
          </a:p>
          <a:p>
            <a:pPr algn="l">
              <a:spcAft>
                <a:spcPts val="1000"/>
              </a:spcAft>
            </a:pPr>
            <a:r>
              <a:rPr sz="1000" b="1">
                <a:solidFill>
                  <a:srgbClr val="212121"/>
                </a:solidFill>
                <a:latin typeface="Calibri"/>
              </a:rPr>
              <a:t>Backup plan: </a:t>
            </a:r>
            <a:r>
              <a:rPr sz="1000" b="0">
                <a:solidFill>
                  <a:srgbClr val="212121"/>
                </a:solidFill>
                <a:latin typeface="Calibri"/>
              </a:rPr>
              <a:t>app is deployed on Netlify (not local), so a venue wifi hiccup only affects the presenter, not the app; a screen-recorded walkthrough is ready as a fallback if live demo fails.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8143" y="4507992"/>
            <a:ext cx="5693511" cy="2121408"/>
          </a:xfrm>
          <a:prstGeom prst="rect">
            <a:avLst/>
          </a:prstGeom>
          <a:solidFill>
            <a:srgbClr val="F4F6F8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4447" y="4599431"/>
            <a:ext cx="5400903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E767A"/>
                </a:solidFill>
                <a:latin typeface="Calibri"/>
              </a:rPr>
              <a:t>PARTICIPATION INTENT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4919472"/>
            <a:ext cx="5400903" cy="15727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1E7A34"/>
                </a:solidFill>
                <a:latin typeface="Calibri"/>
              </a:rPr>
              <a:t>Yes — intend and able to participate </a:t>
            </a:r>
            <a:r>
              <a:rPr sz="1000" b="0">
                <a:solidFill>
                  <a:srgbClr val="212121"/>
                </a:solidFill>
                <a:latin typeface="Calibri"/>
              </a:rPr>
              <a:t>live, Friday Aug 28, 1:00–3:00 PM.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212121"/>
                </a:solidFill>
                <a:latin typeface="Calibri"/>
              </a:rPr>
              <a:t>Support needs: </a:t>
            </a:r>
            <a:r>
              <a:rPr sz="950" b="0">
                <a:solidFill>
                  <a:srgbClr val="212121"/>
                </a:solidFill>
                <a:latin typeface="Calibri"/>
              </a:rPr>
              <a:t>none — no scheduling, accessibility, or technical accommodations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